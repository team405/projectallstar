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901929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0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8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/>
        </p:nvSpPr>
        <p:spPr>
          <a:xfrm>
            <a:off x="143825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1.課題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・イベントの催し物を依頼されたが何をすべきか迷う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・ビンゴ大会等に頼りがちになってしまう。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・人前</a:t>
            </a:r>
            <a:r>
              <a:rPr lang="ja-JP" altLang="en-US" sz="1000" dirty="0" smtClean="0"/>
              <a:t>で話すことが苦手な人が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をするのは大変。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[競合・既存の代替品</a:t>
            </a:r>
            <a:r>
              <a:rPr lang="ja" sz="900" dirty="0" smtClean="0"/>
              <a:t>]</a:t>
            </a:r>
            <a:endParaRPr sz="1000" dirty="0"/>
          </a:p>
          <a:p>
            <a:pPr lvl="0"/>
            <a:r>
              <a:rPr lang="ja-JP" altLang="en-US" sz="1000" dirty="0" smtClean="0"/>
              <a:t>・ケータイゴング</a:t>
            </a:r>
            <a:r>
              <a:rPr lang="en-US" altLang="ja-JP" sz="1000" dirty="0" smtClean="0"/>
              <a:t>for wedding</a:t>
            </a:r>
          </a:p>
          <a:p>
            <a:pPr lvl="0"/>
            <a:r>
              <a:rPr lang="en-US" altLang="ja-JP" sz="1000" dirty="0" smtClean="0"/>
              <a:t>http</a:t>
            </a:r>
            <a:r>
              <a:rPr lang="en-US" altLang="ja-JP" sz="1000" dirty="0"/>
              <a:t>://wedding.keitaigong.jp/toppage/introduce/whats_keitaigong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4" name="Shape 24"/>
          <p:cNvSpPr txBox="1"/>
          <p:nvPr/>
        </p:nvSpPr>
        <p:spPr>
          <a:xfrm>
            <a:off x="1904408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4.ソリューション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/>
            <a:r>
              <a:rPr lang="ja-JP" altLang="en-US" sz="1000" dirty="0"/>
              <a:t>・過去のイベントでのランキング</a:t>
            </a:r>
            <a:r>
              <a:rPr lang="ja-JP" altLang="en-US" sz="1000" dirty="0" smtClean="0"/>
              <a:t>表示、景品紹介機能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</a:t>
            </a:r>
            <a:r>
              <a:rPr lang="en-US" altLang="ja-JP" sz="1000" dirty="0"/>
              <a:t>MC</a:t>
            </a:r>
            <a:r>
              <a:rPr lang="ja-JP" altLang="en-US" sz="1000" dirty="0"/>
              <a:t>サポート</a:t>
            </a:r>
            <a:r>
              <a:rPr lang="ja-JP" altLang="en-US" sz="1000" dirty="0" smtClean="0"/>
              <a:t>機能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台本等</a:t>
            </a:r>
            <a:r>
              <a:rPr lang="en-US" altLang="ja-JP" sz="1000" dirty="0" smtClean="0"/>
              <a:t>)</a:t>
            </a:r>
            <a:endParaRPr lang="en-US" altLang="ja-JP" sz="1000" dirty="0"/>
          </a:p>
          <a:p>
            <a:pPr lvl="0"/>
            <a:r>
              <a:rPr lang="ja-JP" altLang="en-US" sz="1000" dirty="0" smtClean="0"/>
              <a:t>・リピーターのためにデザインを数種類用意する</a:t>
            </a:r>
            <a:endParaRPr lang="en-US" altLang="ja-JP" sz="1000" dirty="0"/>
          </a:p>
        </p:txBody>
      </p:sp>
      <p:sp>
        <p:nvSpPr>
          <p:cNvPr id="25" name="Shape 25"/>
          <p:cNvSpPr txBox="1"/>
          <p:nvPr/>
        </p:nvSpPr>
        <p:spPr>
          <a:xfrm>
            <a:off x="3672976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3.独自の価値提案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・今夜、肩書がひとつ増えます。名幹事という名の。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・趣味</a:t>
            </a:r>
            <a:r>
              <a:rPr lang="ja-JP" altLang="en-US" sz="1000" dirty="0"/>
              <a:t>＝</a:t>
            </a:r>
            <a:r>
              <a:rPr lang="ja-JP" altLang="en-US" sz="1000" dirty="0" smtClean="0"/>
              <a:t>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[リリース遅延による価値低下]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かき入れ</a:t>
            </a:r>
            <a:r>
              <a:rPr lang="ja-JP" altLang="en-US" sz="1000" dirty="0" smtClean="0"/>
              <a:t>時を逃す。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6" name="Shape 26"/>
          <p:cNvSpPr txBox="1"/>
          <p:nvPr/>
        </p:nvSpPr>
        <p:spPr>
          <a:xfrm>
            <a:off x="5433559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9.圧倒的な</a:t>
            </a:r>
            <a:r>
              <a:rPr lang="ja" sz="1000" dirty="0" smtClean="0"/>
              <a:t>優位性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・クオリティや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サポート機能によって、幹事目線に立ったサービスで幹事からの支持を得ます。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→プレゼン後追記</a:t>
            </a:r>
            <a:endParaRPr lang="en-US" altLang="ja-JP" sz="8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無料ユーザーはコンテンツを公開されて、有料ユーザーは非公開にすればコンテンツが集まって差別化できる？</a:t>
            </a:r>
            <a:endParaRPr lang="en-US" altLang="ja-JP" sz="800" dirty="0" smtClean="0"/>
          </a:p>
        </p:txBody>
      </p:sp>
      <p:sp>
        <p:nvSpPr>
          <p:cNvPr id="27" name="Shape 27"/>
          <p:cNvSpPr txBox="1"/>
          <p:nvPr/>
        </p:nvSpPr>
        <p:spPr>
          <a:xfrm>
            <a:off x="7202127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2.顧客セグメント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時間がなくて</a:t>
            </a:r>
            <a:r>
              <a:rPr lang="ja-JP" altLang="en-US" sz="1000" dirty="0"/>
              <a:t>、</a:t>
            </a:r>
            <a:r>
              <a:rPr lang="ja-JP" altLang="en-US" sz="1000" dirty="0" smtClean="0"/>
              <a:t>催し物に困っているイベントの幹事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[アーリーアダプター</a:t>
            </a:r>
            <a:r>
              <a:rPr lang="ja" sz="900" dirty="0" smtClean="0"/>
              <a:t>]</a:t>
            </a:r>
            <a:endParaRPr lang="en-US" altLang="ja" sz="9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・忘年会、ハロウィンパーティ、クリスマスパーティの主催者</a:t>
            </a:r>
            <a:endParaRPr lang="en-US" altLang="ja-JP" sz="9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9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・毎年ビンゴをしてそろそろ飽きてきた団体での飲み会の幹事</a:t>
            </a:r>
            <a:endParaRPr lang="en-US" altLang="ja-JP" sz="900" dirty="0" smtClean="0"/>
          </a:p>
        </p:txBody>
      </p:sp>
      <p:sp>
        <p:nvSpPr>
          <p:cNvPr id="28" name="Shape 28"/>
          <p:cNvSpPr txBox="1"/>
          <p:nvPr/>
        </p:nvSpPr>
        <p:spPr>
          <a:xfrm>
            <a:off x="4540050" y="4294323"/>
            <a:ext cx="4423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6.収入の流れ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◆</a:t>
            </a:r>
            <a:r>
              <a:rPr lang="ja-JP" altLang="en-US" sz="1000" dirty="0" smtClean="0"/>
              <a:t>基本機能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無料</a:t>
            </a:r>
            <a:r>
              <a:rPr lang="en-US" altLang="ja-JP" sz="1000" b="1" dirty="0" smtClean="0"/>
              <a:t>]</a:t>
            </a:r>
            <a:endParaRPr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・テキスト問題</a:t>
            </a:r>
            <a:r>
              <a:rPr lang="en-US" altLang="ja-JP" sz="1000" dirty="0" smtClean="0"/>
              <a:t>(3</a:t>
            </a:r>
            <a:r>
              <a:rPr lang="ja-JP" altLang="en-US" sz="1000" dirty="0" smtClean="0"/>
              <a:t>問まで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・集計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・回答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・最終ランキング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◆拡張機能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有料</a:t>
            </a:r>
            <a:r>
              <a:rPr lang="en-US" altLang="ja-JP" sz="1000" b="1" dirty="0" smtClean="0"/>
              <a:t>](</a:t>
            </a:r>
            <a:r>
              <a:rPr lang="ja-JP" altLang="en-US" sz="1000" b="1" dirty="0" smtClean="0"/>
              <a:t>イベント</a:t>
            </a:r>
            <a:r>
              <a:rPr lang="en-US" altLang="ja-JP" sz="1000" b="1" dirty="0" smtClean="0"/>
              <a:t>1</a:t>
            </a:r>
            <a:r>
              <a:rPr lang="ja-JP" altLang="en-US" sz="1000" b="1" dirty="0" smtClean="0"/>
              <a:t>回につき課金</a:t>
            </a:r>
            <a:r>
              <a:rPr lang="en-US" altLang="ja-JP" sz="1000" b="1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・画像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動画問題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・各問題ごとの回答時間ランキング</a:t>
            </a: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・チーム分け機能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・デザイン機能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→プレゼン後追記</a:t>
            </a:r>
            <a:r>
              <a:rPr lang="ja-JP" altLang="en-US" sz="1000" dirty="0"/>
              <a:t>　</a:t>
            </a:r>
            <a:r>
              <a:rPr lang="en-US" altLang="ja-JP" sz="1000" dirty="0" smtClean="0"/>
              <a:t>1</a:t>
            </a:r>
            <a:r>
              <a:rPr lang="ja-JP" altLang="en-US" sz="1000" dirty="0" smtClean="0"/>
              <a:t>回あたり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</a:t>
            </a:r>
            <a:endParaRPr lang="ja" sz="1000" dirty="0"/>
          </a:p>
        </p:txBody>
      </p:sp>
      <p:sp>
        <p:nvSpPr>
          <p:cNvPr id="29" name="Shape 29"/>
          <p:cNvSpPr txBox="1"/>
          <p:nvPr/>
        </p:nvSpPr>
        <p:spPr>
          <a:xfrm>
            <a:off x="144407" y="4294323"/>
            <a:ext cx="4399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/>
              <a:t>7.コスト構造</a:t>
            </a:r>
          </a:p>
          <a:p>
            <a:pPr lvl="0" rtl="0">
              <a:spcBef>
                <a:spcPts val="0"/>
              </a:spcBef>
              <a:buNone/>
            </a:pPr>
            <a:endParaRPr sz="1000"/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顧客獲得コスト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流通コスト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ホスティングコスト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人件費など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1908755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8.主要指標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・利用</a:t>
            </a:r>
            <a:r>
              <a:rPr lang="ja-JP" altLang="en-US" sz="1000" dirty="0"/>
              <a:t>回数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</a:t>
            </a:r>
            <a:r>
              <a:rPr lang="ja-JP" altLang="en-US" sz="1000" dirty="0" smtClean="0"/>
              <a:t>参加者数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幹事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必須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ユーザ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任意</a:t>
            </a:r>
            <a:r>
              <a:rPr lang="en-US" altLang="ja-JP" sz="1000" dirty="0" smtClean="0"/>
              <a:t>)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</p:txBody>
      </p:sp>
      <p:sp>
        <p:nvSpPr>
          <p:cNvPr id="31" name="Shape 31"/>
          <p:cNvSpPr txBox="1"/>
          <p:nvPr/>
        </p:nvSpPr>
        <p:spPr>
          <a:xfrm>
            <a:off x="5437906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5.チャネル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・口コミ（そのイベントの参加者）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・スマ婚とかと提携</a:t>
            </a:r>
            <a:endParaRPr lang="ja" sz="1000" dirty="0"/>
          </a:p>
        </p:txBody>
      </p:sp>
      <p:sp>
        <p:nvSpPr>
          <p:cNvPr id="32" name="Shape 32"/>
          <p:cNvSpPr txBox="1"/>
          <p:nvPr/>
        </p:nvSpPr>
        <p:spPr>
          <a:xfrm>
            <a:off x="75500" y="41925"/>
            <a:ext cx="2977800" cy="30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u="sng" dirty="0"/>
              <a:t>タイトル</a:t>
            </a:r>
            <a:r>
              <a:rPr lang="ja" sz="1000" u="sng" dirty="0" smtClean="0"/>
              <a:t>:</a:t>
            </a:r>
            <a:r>
              <a:rPr lang="en-US" altLang="ja-JP" sz="1000" u="sng" smtClean="0"/>
              <a:t>Quiz</a:t>
            </a:r>
            <a:endParaRPr lang="ja" sz="1000" u="sng" dirty="0"/>
          </a:p>
        </p:txBody>
      </p:sp>
      <p:cxnSp>
        <p:nvCxnSpPr>
          <p:cNvPr id="3" name="直線コネクタ 2"/>
          <p:cNvCxnSpPr/>
          <p:nvPr/>
        </p:nvCxnSpPr>
        <p:spPr>
          <a:xfrm flipH="1">
            <a:off x="144407" y="4294509"/>
            <a:ext cx="4395643" cy="2442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531223" y="5228490"/>
            <a:ext cx="3727264" cy="644206"/>
          </a:xfrm>
          <a:prstGeom prst="rect">
            <a:avLst/>
          </a:prstGeom>
          <a:noFill/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lIns="91425" tIns="91425" rIns="91425" bIns="91425" rtlCol="0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kumimoji="1" lang="en-US" altLang="ja-JP" sz="3200" dirty="0" smtClean="0"/>
              <a:t>Cat’s</a:t>
            </a:r>
            <a:r>
              <a:rPr kumimoji="1" lang="ja-JP" altLang="en-US" sz="3200" dirty="0" smtClean="0"/>
              <a:t> </a:t>
            </a:r>
            <a:r>
              <a:rPr kumimoji="1" lang="en-US" altLang="ja-JP" sz="3200" dirty="0" smtClean="0"/>
              <a:t>eye(</a:t>
            </a:r>
            <a:r>
              <a:rPr kumimoji="1" lang="ja-JP" altLang="en-US" sz="3200" dirty="0" smtClean="0"/>
              <a:t>かつあい</a:t>
            </a:r>
            <a:r>
              <a:rPr kumimoji="1" lang="en-US" altLang="ja-JP" sz="3200" dirty="0" smtClean="0"/>
              <a:t>)</a:t>
            </a:r>
            <a:endParaRPr kumimoji="1" lang="ja-JP" altLang="en-US" sz="3200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/>
        </p:nvSpPr>
        <p:spPr>
          <a:xfrm>
            <a:off x="143825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1.課題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・イベントの催し物を依頼されたが何をすべきか迷う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・ビンゴ大会等に頼りがちになってしまう。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・人前</a:t>
            </a:r>
            <a:r>
              <a:rPr lang="ja-JP" altLang="en-US" sz="1000" dirty="0" smtClean="0"/>
              <a:t>で話すことが苦手な人が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をするのは大変。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[競合・既存の代替品</a:t>
            </a:r>
            <a:r>
              <a:rPr lang="ja" sz="900" dirty="0" smtClean="0"/>
              <a:t>]</a:t>
            </a:r>
            <a:endParaRPr sz="1000" dirty="0"/>
          </a:p>
          <a:p>
            <a:pPr lvl="0"/>
            <a:r>
              <a:rPr lang="ja-JP" altLang="en-US" sz="1000" dirty="0" smtClean="0"/>
              <a:t>・ケータイゴング</a:t>
            </a:r>
            <a:r>
              <a:rPr lang="en-US" altLang="ja-JP" sz="1000" dirty="0" smtClean="0"/>
              <a:t>for wedding</a:t>
            </a:r>
          </a:p>
          <a:p>
            <a:pPr lvl="0"/>
            <a:r>
              <a:rPr lang="en-US" altLang="ja-JP" sz="1000" dirty="0" smtClean="0"/>
              <a:t>http</a:t>
            </a:r>
            <a:r>
              <a:rPr lang="en-US" altLang="ja-JP" sz="1000" dirty="0"/>
              <a:t>://wedding.keitaigong.jp/toppage/introduce/whats_keitaigong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4" name="Shape 24"/>
          <p:cNvSpPr txBox="1"/>
          <p:nvPr/>
        </p:nvSpPr>
        <p:spPr>
          <a:xfrm>
            <a:off x="1904408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4.ソリューション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/>
            <a:r>
              <a:rPr lang="ja-JP" altLang="en-US" sz="1000" dirty="0"/>
              <a:t>・過去のイベントでのランキング</a:t>
            </a:r>
            <a:r>
              <a:rPr lang="ja-JP" altLang="en-US" sz="1000" dirty="0" smtClean="0"/>
              <a:t>表示</a:t>
            </a:r>
            <a:endParaRPr lang="en-US" altLang="ja-JP" sz="1000" dirty="0" smtClean="0"/>
          </a:p>
          <a:p>
            <a:pPr lvl="0"/>
            <a:r>
              <a:rPr lang="ja-JP" altLang="en-US" sz="1000" dirty="0"/>
              <a:t>・</a:t>
            </a:r>
            <a:r>
              <a:rPr lang="ja-JP" altLang="en-US" sz="1000" dirty="0" smtClean="0"/>
              <a:t>景品</a:t>
            </a:r>
            <a:r>
              <a:rPr lang="ja-JP" altLang="en-US" sz="1000" dirty="0" smtClean="0"/>
              <a:t>紹介機能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</a:t>
            </a:r>
            <a:r>
              <a:rPr lang="en-US" altLang="ja-JP" sz="1000" dirty="0"/>
              <a:t>MC</a:t>
            </a:r>
            <a:r>
              <a:rPr lang="ja-JP" altLang="en-US" sz="1000" dirty="0"/>
              <a:t>サポート</a:t>
            </a:r>
            <a:r>
              <a:rPr lang="ja-JP" altLang="en-US" sz="1000" dirty="0" smtClean="0"/>
              <a:t>機能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台本等</a:t>
            </a:r>
            <a:r>
              <a:rPr lang="en-US" altLang="ja-JP" sz="1000" dirty="0" smtClean="0"/>
              <a:t>)</a:t>
            </a:r>
            <a:endParaRPr lang="en-US" altLang="ja-JP" sz="1000" dirty="0"/>
          </a:p>
          <a:p>
            <a:pPr lvl="0"/>
            <a:r>
              <a:rPr lang="ja-JP" altLang="en-US" sz="1000" dirty="0" smtClean="0"/>
              <a:t>・リピーターのためにデザインを数種類用意する</a:t>
            </a:r>
            <a:endParaRPr lang="en-US" altLang="ja-JP" sz="1000" dirty="0"/>
          </a:p>
        </p:txBody>
      </p:sp>
      <p:sp>
        <p:nvSpPr>
          <p:cNvPr id="25" name="Shape 25"/>
          <p:cNvSpPr txBox="1"/>
          <p:nvPr/>
        </p:nvSpPr>
        <p:spPr>
          <a:xfrm>
            <a:off x="3672976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3.独自の価値提案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・今夜、肩書がひとつ増えます。名幹事という名の。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・趣味</a:t>
            </a:r>
            <a:r>
              <a:rPr lang="ja-JP" altLang="en-US" sz="1000" dirty="0"/>
              <a:t>＝</a:t>
            </a:r>
            <a:r>
              <a:rPr lang="ja-JP" altLang="en-US" sz="1000" dirty="0" smtClean="0"/>
              <a:t>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lang="en-US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[リリース遅延による価値低下]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かき入れ</a:t>
            </a:r>
            <a:r>
              <a:rPr lang="ja-JP" altLang="en-US" sz="1000" dirty="0" smtClean="0"/>
              <a:t>時を逃す。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6" name="Shape 26"/>
          <p:cNvSpPr txBox="1"/>
          <p:nvPr/>
        </p:nvSpPr>
        <p:spPr>
          <a:xfrm>
            <a:off x="5433559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9.圧倒的な</a:t>
            </a:r>
            <a:r>
              <a:rPr lang="ja" sz="1000" dirty="0" smtClean="0"/>
              <a:t>優位性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・クオリティや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サポート機能によって、幹事目線に立ったサービスで幹事からの支持を得ます</a:t>
            </a:r>
            <a:r>
              <a:rPr lang="ja-JP" altLang="en-US" sz="1000" dirty="0" smtClean="0"/>
              <a:t>。</a:t>
            </a:r>
            <a:endParaRPr lang="en-US" altLang="ja-JP" sz="1000" dirty="0" smtClean="0"/>
          </a:p>
        </p:txBody>
      </p:sp>
      <p:sp>
        <p:nvSpPr>
          <p:cNvPr id="27" name="Shape 27"/>
          <p:cNvSpPr txBox="1"/>
          <p:nvPr/>
        </p:nvSpPr>
        <p:spPr>
          <a:xfrm>
            <a:off x="7202127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2.顧客セグメント</a:t>
            </a:r>
          </a:p>
          <a:p>
            <a:pPr lvl="0" rtl="0">
              <a:spcBef>
                <a:spcPts val="0"/>
              </a:spcBef>
              <a:buNone/>
            </a:pPr>
            <a:endParaRPr lang="en-US" altLang="ja-JP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いつもと違った催し物をする必要がある幹事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[アーリーアダプター</a:t>
            </a:r>
            <a:r>
              <a:rPr lang="ja" sz="900" dirty="0" smtClean="0"/>
              <a:t>]</a:t>
            </a:r>
            <a:endParaRPr lang="en-US" altLang="ja" sz="9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・忘年会、ハロウィンパーティ、クリスマスパーティの主催者</a:t>
            </a:r>
            <a:endParaRPr lang="en-US" altLang="ja-JP" sz="9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9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・毎年ビンゴをしてそろそろ飽きてきた団体での飲み会の幹事</a:t>
            </a:r>
            <a:endParaRPr lang="en-US" altLang="ja-JP" sz="900" dirty="0" smtClean="0"/>
          </a:p>
        </p:txBody>
      </p:sp>
      <p:sp>
        <p:nvSpPr>
          <p:cNvPr id="28" name="Shape 28"/>
          <p:cNvSpPr txBox="1"/>
          <p:nvPr/>
        </p:nvSpPr>
        <p:spPr>
          <a:xfrm>
            <a:off x="4540050" y="4294323"/>
            <a:ext cx="4423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6.収入の</a:t>
            </a:r>
            <a:r>
              <a:rPr lang="ja" sz="1000" dirty="0" smtClean="0"/>
              <a:t>流れ</a:t>
            </a: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◆</a:t>
            </a:r>
            <a:r>
              <a:rPr lang="ja-JP" altLang="en-US" sz="1000" dirty="0" smtClean="0"/>
              <a:t>基本機能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無料</a:t>
            </a:r>
            <a:r>
              <a:rPr lang="en-US" altLang="ja-JP" sz="1000" b="1" dirty="0" smtClean="0"/>
              <a:t>]</a:t>
            </a:r>
            <a:endParaRPr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・問題作成</a:t>
            </a:r>
            <a:endParaRPr lang="en-US" altLang="ja-JP" sz="1000" dirty="0"/>
          </a:p>
          <a:p>
            <a:pPr lvl="0"/>
            <a:r>
              <a:rPr lang="ja-JP" altLang="en-US" sz="1000" dirty="0"/>
              <a:t>・各問題ごとの回答時間ランキング</a:t>
            </a:r>
            <a:endParaRPr lang="en-US" altLang="ja" sz="1000" dirty="0"/>
          </a:p>
          <a:p>
            <a:pPr lvl="0"/>
            <a:r>
              <a:rPr lang="ja-JP" altLang="en-US" sz="1000" dirty="0"/>
              <a:t>・チーム分け機能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・デザイン機能</a:t>
            </a:r>
            <a:endParaRPr lang="ja" altLang="ja-JP" sz="1000" dirty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◆</a:t>
            </a:r>
            <a:r>
              <a:rPr lang="ja-JP" altLang="en-US" sz="1000" dirty="0" smtClean="0"/>
              <a:t>プレゼン</a:t>
            </a:r>
            <a:r>
              <a:rPr lang="en-US" altLang="ja-JP" sz="1000" dirty="0" smtClean="0"/>
              <a:t>1</a:t>
            </a:r>
            <a:r>
              <a:rPr lang="ja-JP" altLang="en-US" sz="1000" dirty="0" smtClean="0"/>
              <a:t>回</a:t>
            </a:r>
            <a:r>
              <a:rPr lang="en-US" altLang="ja-JP" sz="1000" dirty="0" smtClean="0"/>
              <a:t>(3h)</a:t>
            </a:r>
            <a:r>
              <a:rPr lang="ja-JP" altLang="en-US" sz="1000" dirty="0" smtClean="0"/>
              <a:t>につき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有料</a:t>
            </a:r>
            <a:r>
              <a:rPr lang="en-US" altLang="ja-JP" sz="1000" b="1" dirty="0" smtClean="0"/>
              <a:t>]\10,000</a:t>
            </a:r>
          </a:p>
          <a:p>
            <a:pPr lvl="0"/>
            <a:r>
              <a:rPr lang="ja-JP" altLang="en-US" sz="1000" dirty="0"/>
              <a:t>・</a:t>
            </a:r>
            <a:r>
              <a:rPr lang="ja-JP" altLang="en-US" sz="1000" dirty="0" smtClean="0"/>
              <a:t>集計、回答、最終ランキング</a:t>
            </a:r>
            <a:endParaRPr lang="en-US" altLang="ja-JP" sz="1000" b="1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b="1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年間婚姻組数</a:t>
            </a:r>
            <a:r>
              <a:rPr lang="en-US" altLang="ja-JP" sz="1000" dirty="0" smtClean="0"/>
              <a:t>650,000</a:t>
            </a:r>
            <a:r>
              <a:rPr lang="ja-JP" altLang="en-US" sz="1000" dirty="0" smtClean="0"/>
              <a:t>組 </a:t>
            </a:r>
            <a:r>
              <a:rPr lang="en-US" altLang="ja-JP" sz="1000" dirty="0" smtClean="0"/>
              <a:t>x 60% = 390,000(</a:t>
            </a:r>
            <a:r>
              <a:rPr lang="ja-JP" altLang="en-US" sz="1000" dirty="0" smtClean="0"/>
              <a:t>結婚式をする組数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altLang="ja-JP" sz="1000" dirty="0" smtClean="0"/>
              <a:t>390,000 x 0.1% = 390</a:t>
            </a:r>
            <a:r>
              <a:rPr lang="ja-JP" altLang="en-US" sz="1000" dirty="0" smtClean="0"/>
              <a:t>組が使用する　→</a:t>
            </a:r>
            <a:r>
              <a:rPr lang="en-US" altLang="ja-JP" sz="1000" dirty="0" smtClean="0"/>
              <a:t>390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＋忘年会等のイベントでの使用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b="1" dirty="0" smtClean="0"/>
              <a:t>◆</a:t>
            </a:r>
            <a:r>
              <a:rPr lang="ja-JP" altLang="en-US" sz="1000" dirty="0" smtClean="0"/>
              <a:t>広告収入</a:t>
            </a:r>
            <a:r>
              <a:rPr lang="en-US" altLang="ja-JP" sz="1000" dirty="0" smtClean="0"/>
              <a:t>(</a:t>
            </a:r>
            <a:r>
              <a:rPr lang="en-US" altLang="ja-JP" sz="1000" dirty="0" err="1" smtClean="0"/>
              <a:t>googleads</a:t>
            </a:r>
            <a:r>
              <a:rPr lang="ja-JP" altLang="en-US" sz="1000" dirty="0" smtClean="0"/>
              <a:t>等</a:t>
            </a:r>
            <a:r>
              <a:rPr lang="en-US" altLang="ja-JP" sz="1000" dirty="0" smtClean="0"/>
              <a:t>)</a:t>
            </a:r>
            <a:endParaRPr lang="en-US" altLang="ja-JP" sz="1000" dirty="0" smtClean="0"/>
          </a:p>
        </p:txBody>
      </p:sp>
      <p:sp>
        <p:nvSpPr>
          <p:cNvPr id="29" name="Shape 29"/>
          <p:cNvSpPr txBox="1"/>
          <p:nvPr/>
        </p:nvSpPr>
        <p:spPr>
          <a:xfrm>
            <a:off x="144407" y="4294323"/>
            <a:ext cx="4399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7.コスト構造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1000" dirty="0"/>
              <a:t>顧客獲得</a:t>
            </a:r>
            <a:r>
              <a:rPr lang="ja" sz="1000" dirty="0" smtClean="0"/>
              <a:t>コスト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→キャンペーン用の告知費用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" sz="1000" dirty="0"/>
              <a:t>流通コスト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</a:t>
            </a:r>
            <a:r>
              <a:rPr lang="ja-JP" altLang="en-US" sz="1000" dirty="0" err="1" smtClean="0"/>
              <a:t>無し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" sz="1000" dirty="0" smtClean="0"/>
              <a:t>ホスティングコスト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→サーバ</a:t>
            </a:r>
            <a:r>
              <a:rPr lang="en-US" altLang="ja-JP" sz="1000" dirty="0" smtClean="0"/>
              <a:t>(</a:t>
            </a:r>
            <a:r>
              <a:rPr lang="en-US" altLang="ja-JP" sz="1000" dirty="0"/>
              <a:t>30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r>
              <a:rPr lang="en-US" altLang="ja-JP" sz="1000" dirty="0" smtClean="0"/>
              <a:t>)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" sz="1000" dirty="0" smtClean="0"/>
              <a:t>人件費など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→運用費</a:t>
            </a:r>
            <a:r>
              <a:rPr lang="en-US" altLang="ja-JP" sz="1000" dirty="0" smtClean="0"/>
              <a:t>(360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r>
              <a:rPr lang="en-US" altLang="ja-JP" sz="1000" dirty="0" smtClean="0"/>
              <a:t>)</a:t>
            </a:r>
            <a:endParaRPr lang="ja" sz="1000" dirty="0"/>
          </a:p>
        </p:txBody>
      </p:sp>
      <p:sp>
        <p:nvSpPr>
          <p:cNvPr id="30" name="Shape 30"/>
          <p:cNvSpPr txBox="1"/>
          <p:nvPr/>
        </p:nvSpPr>
        <p:spPr>
          <a:xfrm>
            <a:off x="1908755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8.主要指標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・利用</a:t>
            </a:r>
            <a:r>
              <a:rPr lang="ja-JP" altLang="en-US" sz="1000" dirty="0"/>
              <a:t>回数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</a:t>
            </a:r>
            <a:r>
              <a:rPr lang="ja-JP" altLang="en-US" sz="1000" dirty="0" smtClean="0"/>
              <a:t>参加者数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幹事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必須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　→満足度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８０％</a:t>
            </a:r>
            <a:r>
              <a:rPr lang="ja-JP" altLang="en-US" sz="1000" dirty="0"/>
              <a:t>以上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ユーザ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任意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　</a:t>
            </a:r>
            <a:r>
              <a:rPr lang="ja-JP" altLang="en-US" sz="1000" dirty="0" smtClean="0"/>
              <a:t>→満足度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７０％以上</a:t>
            </a:r>
            <a:r>
              <a:rPr lang="en-US" altLang="ja-JP" sz="1000" dirty="0" smtClean="0"/>
              <a:t>)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・リピート率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</p:txBody>
      </p:sp>
      <p:sp>
        <p:nvSpPr>
          <p:cNvPr id="31" name="Shape 31"/>
          <p:cNvSpPr txBox="1"/>
          <p:nvPr/>
        </p:nvSpPr>
        <p:spPr>
          <a:xfrm>
            <a:off x="5437906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5.チャネル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・口コミ（そのイベントの参加者）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・スマ婚とかと提携</a:t>
            </a:r>
            <a:endParaRPr lang="ja" sz="1000" dirty="0"/>
          </a:p>
        </p:txBody>
      </p:sp>
      <p:sp>
        <p:nvSpPr>
          <p:cNvPr id="32" name="Shape 32"/>
          <p:cNvSpPr txBox="1"/>
          <p:nvPr/>
        </p:nvSpPr>
        <p:spPr>
          <a:xfrm>
            <a:off x="75500" y="41925"/>
            <a:ext cx="2977800" cy="30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u="sng" dirty="0"/>
              <a:t>タイトル</a:t>
            </a:r>
            <a:r>
              <a:rPr lang="ja" sz="1000" u="sng" dirty="0" smtClean="0"/>
              <a:t>:</a:t>
            </a:r>
            <a:r>
              <a:rPr lang="en-US" altLang="ja" sz="1000" u="sng" dirty="0" err="1" smtClean="0"/>
              <a:t>SmaQ</a:t>
            </a:r>
            <a:r>
              <a:rPr lang="en-US" altLang="ja" sz="1000" u="sng" dirty="0" smtClean="0"/>
              <a:t>(</a:t>
            </a:r>
            <a:r>
              <a:rPr lang="ja-JP" altLang="en-US" sz="1000" u="sng" dirty="0" err="1" smtClean="0"/>
              <a:t>すま</a:t>
            </a:r>
            <a:r>
              <a:rPr lang="ja-JP" altLang="en-US" sz="1000" u="sng" dirty="0" err="1"/>
              <a:t>きゅ</a:t>
            </a:r>
            <a:r>
              <a:rPr lang="ja-JP" altLang="en-US" sz="1000" u="sng" dirty="0" smtClean="0"/>
              <a:t>ー）</a:t>
            </a:r>
            <a:endParaRPr lang="ja" sz="1000" u="sng" dirty="0"/>
          </a:p>
        </p:txBody>
      </p:sp>
    </p:spTree>
    <p:extLst>
      <p:ext uri="{BB962C8B-B14F-4D97-AF65-F5344CB8AC3E}">
        <p14:creationId xmlns:p14="http://schemas.microsoft.com/office/powerpoint/2010/main" val="41199323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lIns="91425" tIns="91425" rIns="91425" bIns="91425" anchor="t" anchorCtr="0">
        <a:noAutofit/>
      </a:bodyPr>
      <a:lstStyle>
        <a:defPPr rtl="0">
          <a:spcBef>
            <a:spcPts val="0"/>
          </a:spcBef>
          <a:buNone/>
          <a:defRPr sz="100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687</Words>
  <Application>Microsoft Office PowerPoint</Application>
  <PresentationFormat>画面に合わせる (4:3)</PresentationFormat>
  <Paragraphs>161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Courier New</vt:lpstr>
      <vt:lpstr>Wingdings</vt:lpstr>
      <vt:lpstr>Custom Theme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kent kojima</dc:creator>
  <cp:lastModifiedBy>kent kojima</cp:lastModifiedBy>
  <cp:revision>30</cp:revision>
  <dcterms:modified xsi:type="dcterms:W3CDTF">2015-09-19T06:55:22Z</dcterms:modified>
</cp:coreProperties>
</file>