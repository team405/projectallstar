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7" r:id="rId5"/>
    <p:sldId id="272" r:id="rId6"/>
    <p:sldId id="269" r:id="rId7"/>
    <p:sldId id="270" r:id="rId8"/>
    <p:sldId id="266" r:id="rId9"/>
    <p:sldId id="259" r:id="rId10"/>
    <p:sldId id="261" r:id="rId11"/>
    <p:sldId id="260" r:id="rId12"/>
    <p:sldId id="273" r:id="rId13"/>
    <p:sldId id="274" r:id="rId14"/>
    <p:sldId id="263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81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149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43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768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08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363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61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96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52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817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98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B294-979C-4007-A90B-7B7A18AB1291}" type="datetimeFigureOut">
              <a:rPr kumimoji="1" lang="ja-JP" altLang="en-US" smtClean="0"/>
              <a:t>2015/9/21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AD58-4EFA-4F22-8342-3E9567E528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90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SmaQ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648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作らないといけないもの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 smtClean="0"/>
              <a:t>・メイン</a:t>
            </a:r>
            <a:br>
              <a:rPr lang="ja-JP" altLang="en-US" dirty="0" smtClean="0"/>
            </a:br>
            <a:r>
              <a:rPr lang="ja-JP" altLang="en-US" dirty="0" smtClean="0"/>
              <a:t>◆端末用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en-US" altLang="ja-JP" dirty="0" smtClean="0"/>
              <a:t>…HTML5/JS/CSS</a:t>
            </a:r>
            <a:br>
              <a:rPr lang="en-US" altLang="ja-JP" dirty="0" smtClean="0"/>
            </a:br>
            <a:r>
              <a:rPr lang="en-US" altLang="ja-JP" dirty="0" smtClean="0"/>
              <a:t>◆</a:t>
            </a:r>
            <a:r>
              <a:rPr lang="ja-JP" altLang="en-US" dirty="0" smtClean="0"/>
              <a:t>サーバ</a:t>
            </a:r>
            <a:br>
              <a:rPr lang="ja-JP" altLang="en-US" dirty="0" smtClean="0"/>
            </a:br>
            <a:r>
              <a:rPr lang="en-US" altLang="ja-JP" dirty="0" smtClean="0"/>
              <a:t>…PHP</a:t>
            </a:r>
            <a:br>
              <a:rPr lang="en-US" altLang="ja-JP" dirty="0" smtClean="0"/>
            </a:br>
            <a:r>
              <a:rPr lang="en-US" altLang="ja-JP" dirty="0" smtClean="0"/>
              <a:t>◆</a:t>
            </a:r>
            <a:r>
              <a:rPr lang="ja-JP" altLang="en-US" dirty="0" smtClean="0"/>
              <a:t>表示用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en-US" altLang="ja-JP" dirty="0" smtClean="0"/>
              <a:t>…HTML5</a:t>
            </a:r>
            <a:br>
              <a:rPr lang="en-US" altLang="ja-JP" dirty="0" smtClean="0"/>
            </a:br>
            <a:r>
              <a:rPr lang="ja-JP" altLang="en-US" dirty="0" smtClean="0"/>
              <a:t>動画、画像</a:t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>・使う技術</a:t>
            </a:r>
            <a:br>
              <a:rPr lang="ja-JP" altLang="en-US" dirty="0" smtClean="0"/>
            </a:br>
            <a:r>
              <a:rPr lang="ja-JP" altLang="en-US" dirty="0" smtClean="0"/>
              <a:t>◆</a:t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/>
            </a:r>
            <a:br>
              <a:rPr lang="ja-JP" altLang="en-US" dirty="0" smtClean="0"/>
            </a:br>
            <a:r>
              <a:rPr lang="ja-JP" altLang="en-US" dirty="0" smtClean="0"/>
              <a:t>◆表示用</a:t>
            </a:r>
            <a:r>
              <a:rPr lang="en-US" altLang="ja-JP" dirty="0" smtClean="0"/>
              <a:t>UI</a:t>
            </a:r>
            <a:br>
              <a:rPr lang="en-US" altLang="ja-JP" dirty="0" smtClean="0"/>
            </a:br>
            <a:r>
              <a:rPr lang="ja-JP" altLang="en-US" dirty="0" smtClean="0"/>
              <a:t>画像動画</a:t>
            </a:r>
            <a:r>
              <a:rPr lang="en-US" altLang="ja-JP" dirty="0" smtClean="0"/>
              <a:t>…HTML5</a:t>
            </a:r>
            <a:r>
              <a:rPr lang="ja-JP" altLang="en-US" dirty="0" smtClean="0"/>
              <a:t>のタグを使ってあらかじめサーバに配置した動画像を読み込む</a:t>
            </a:r>
            <a:br>
              <a:rPr lang="ja-JP" altLang="en-US" dirty="0" smtClean="0"/>
            </a:br>
            <a:r>
              <a:rPr lang="ja-JP" altLang="en-US" dirty="0" smtClean="0"/>
              <a:t>画面遷移</a:t>
            </a:r>
            <a:r>
              <a:rPr lang="en-US" altLang="ja-JP" dirty="0" smtClean="0"/>
              <a:t>…HTML/5</a:t>
            </a:r>
            <a:r>
              <a:rPr lang="ja-JP" altLang="en-US" dirty="0" err="1" smtClean="0"/>
              <a:t>、</a:t>
            </a:r>
            <a:r>
              <a:rPr lang="en-US" altLang="ja-JP" dirty="0" err="1" smtClean="0"/>
              <a:t>Javascript</a:t>
            </a:r>
            <a:r>
              <a:rPr lang="ja-JP" altLang="en-US" dirty="0" smtClean="0"/>
              <a:t>の</a:t>
            </a:r>
            <a:r>
              <a:rPr lang="en-US" altLang="ja-JP" dirty="0" smtClean="0"/>
              <a:t>display</a:t>
            </a:r>
            <a:r>
              <a:rPr lang="ja-JP" altLang="en-US" dirty="0" smtClean="0"/>
              <a:t>属性で</a:t>
            </a:r>
            <a:br>
              <a:rPr lang="ja-JP" altLang="en-US" dirty="0" smtClean="0"/>
            </a:br>
            <a:r>
              <a:rPr lang="en-US" altLang="ja-JP" dirty="0" smtClean="0"/>
              <a:t>UI</a:t>
            </a:r>
            <a:r>
              <a:rPr lang="ja-JP" altLang="en-US" dirty="0" smtClean="0"/>
              <a:t>など</a:t>
            </a:r>
            <a:r>
              <a:rPr lang="en-US" altLang="ja-JP" dirty="0" smtClean="0"/>
              <a:t>…jQuery</a:t>
            </a:r>
          </a:p>
          <a:p>
            <a:r>
              <a:rPr lang="ja-JP" altLang="en-US" dirty="0" smtClean="0"/>
              <a:t>サーバとの通信</a:t>
            </a:r>
            <a:r>
              <a:rPr lang="en-US" altLang="ja-JP" dirty="0" smtClean="0"/>
              <a:t>…JSON/jQuery</a:t>
            </a:r>
            <a:r>
              <a:rPr lang="ja-JP" altLang="en-US" dirty="0" smtClean="0"/>
              <a:t>のソケット接続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102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利用イメージ</a:t>
            </a:r>
            <a:endParaRPr kumimoji="1" lang="ja-JP" altLang="en-US" dirty="0"/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2310938" y="5378335"/>
            <a:ext cx="6891251" cy="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図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811" y="1864446"/>
            <a:ext cx="2240673" cy="2201286"/>
          </a:xfrm>
          <a:prstGeom prst="rect">
            <a:avLst/>
          </a:prstGeom>
        </p:spPr>
      </p:pic>
      <p:cxnSp>
        <p:nvCxnSpPr>
          <p:cNvPr id="13" name="直線矢印コネクタ 12"/>
          <p:cNvCxnSpPr>
            <a:stCxn id="11" idx="1"/>
          </p:cNvCxnSpPr>
          <p:nvPr/>
        </p:nvCxnSpPr>
        <p:spPr>
          <a:xfrm flipH="1">
            <a:off x="1974932" y="2965089"/>
            <a:ext cx="2043879" cy="1199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09" y="4239912"/>
            <a:ext cx="1171264" cy="1670438"/>
          </a:xfrm>
          <a:prstGeom prst="rect">
            <a:avLst/>
          </a:prstGeom>
        </p:spPr>
      </p:pic>
      <p:cxnSp>
        <p:nvCxnSpPr>
          <p:cNvPr id="18" name="直線矢印コネクタ 17"/>
          <p:cNvCxnSpPr>
            <a:endCxn id="11" idx="3"/>
          </p:cNvCxnSpPr>
          <p:nvPr/>
        </p:nvCxnSpPr>
        <p:spPr>
          <a:xfrm flipH="1" flipV="1">
            <a:off x="6259484" y="2965089"/>
            <a:ext cx="3233651" cy="127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図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786" y="4048295"/>
            <a:ext cx="493242" cy="1451379"/>
          </a:xfrm>
          <a:prstGeom prst="rect">
            <a:avLst/>
          </a:prstGeom>
        </p:spPr>
      </p:pic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43" y="5262916"/>
            <a:ext cx="503446" cy="849817"/>
          </a:xfr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270" y="5220393"/>
            <a:ext cx="455662" cy="926512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024907" y="61469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回答者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86050" y="4065732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スクリーン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9670121" y="3159179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MC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348186" y="5910350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サーバ</a:t>
            </a:r>
            <a:endParaRPr kumimoji="1" lang="ja-JP" altLang="en-US" dirty="0"/>
          </a:p>
        </p:txBody>
      </p:sp>
      <p:pic>
        <p:nvPicPr>
          <p:cNvPr id="17" name="コンテンツ プレースホルダー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489" y="2048983"/>
            <a:ext cx="2041415" cy="1148296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224" y="2004247"/>
            <a:ext cx="1912686" cy="1237767"/>
          </a:xfrm>
          <a:prstGeom prst="rect">
            <a:avLst/>
          </a:prstGeom>
        </p:spPr>
      </p:pic>
      <p:cxnSp>
        <p:nvCxnSpPr>
          <p:cNvPr id="19" name="直線矢印コネクタ 18"/>
          <p:cNvCxnSpPr>
            <a:stCxn id="14" idx="2"/>
            <a:endCxn id="16" idx="0"/>
          </p:cNvCxnSpPr>
          <p:nvPr/>
        </p:nvCxnSpPr>
        <p:spPr>
          <a:xfrm flipH="1">
            <a:off x="9846841" y="3528511"/>
            <a:ext cx="75914" cy="711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画面遷移</a:t>
            </a:r>
            <a:r>
              <a:rPr lang="ja-JP" altLang="en-US" dirty="0" smtClean="0"/>
              <a:t>図（イベント時</a:t>
            </a:r>
            <a:r>
              <a:rPr lang="en-US" altLang="ja-JP" dirty="0" smtClean="0"/>
              <a:t>/PC</a:t>
            </a:r>
            <a:r>
              <a:rPr lang="ja-JP" altLang="en-US" dirty="0" smtClean="0"/>
              <a:t>側）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181600" y="1478713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START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線コネクタ 5"/>
          <p:cNvCxnSpPr>
            <a:stCxn id="4" idx="2"/>
            <a:endCxn id="8" idx="0"/>
          </p:cNvCxnSpPr>
          <p:nvPr/>
        </p:nvCxnSpPr>
        <p:spPr>
          <a:xfrm>
            <a:off x="6096000" y="1902662"/>
            <a:ext cx="6349" cy="157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/>
        </p:nvSpPr>
        <p:spPr>
          <a:xfrm>
            <a:off x="5187949" y="2060155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タイトル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94300" y="2644489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はじめに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/>
          <p:cNvCxnSpPr>
            <a:stCxn id="8" idx="2"/>
            <a:endCxn id="10" idx="0"/>
          </p:cNvCxnSpPr>
          <p:nvPr/>
        </p:nvCxnSpPr>
        <p:spPr>
          <a:xfrm>
            <a:off x="6102349" y="2484104"/>
            <a:ext cx="6351" cy="160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10" idx="2"/>
            <a:endCxn id="17" idx="0"/>
          </p:cNvCxnSpPr>
          <p:nvPr/>
        </p:nvCxnSpPr>
        <p:spPr>
          <a:xfrm>
            <a:off x="6108700" y="3068438"/>
            <a:ext cx="0" cy="157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5194300" y="3225709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問題説明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5200649" y="3811575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線コネクタ 19"/>
          <p:cNvCxnSpPr>
            <a:stCxn id="17" idx="2"/>
            <a:endCxn id="19" idx="0"/>
          </p:cNvCxnSpPr>
          <p:nvPr/>
        </p:nvCxnSpPr>
        <p:spPr>
          <a:xfrm>
            <a:off x="6108700" y="3649658"/>
            <a:ext cx="6349" cy="1619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/>
          <p:cNvSpPr/>
          <p:nvPr/>
        </p:nvSpPr>
        <p:spPr>
          <a:xfrm>
            <a:off x="5200649" y="4392795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解答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コネクタ 24"/>
          <p:cNvCxnSpPr>
            <a:stCxn id="19" idx="2"/>
            <a:endCxn id="23" idx="0"/>
          </p:cNvCxnSpPr>
          <p:nvPr/>
        </p:nvCxnSpPr>
        <p:spPr>
          <a:xfrm>
            <a:off x="6115049" y="4235524"/>
            <a:ext cx="0" cy="157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/>
          <p:cNvSpPr/>
          <p:nvPr/>
        </p:nvSpPr>
        <p:spPr>
          <a:xfrm>
            <a:off x="5200650" y="4977350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ランキング表示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線コネクタ 28"/>
          <p:cNvCxnSpPr>
            <a:stCxn id="23" idx="2"/>
            <a:endCxn id="28" idx="0"/>
          </p:cNvCxnSpPr>
          <p:nvPr/>
        </p:nvCxnSpPr>
        <p:spPr>
          <a:xfrm>
            <a:off x="6115049" y="4816744"/>
            <a:ext cx="1" cy="1606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/>
          <p:cNvCxnSpPr>
            <a:stCxn id="28" idx="1"/>
            <a:endCxn id="17" idx="1"/>
          </p:cNvCxnSpPr>
          <p:nvPr/>
        </p:nvCxnSpPr>
        <p:spPr>
          <a:xfrm rot="10800000">
            <a:off x="5194300" y="3437685"/>
            <a:ext cx="6350" cy="1751641"/>
          </a:xfrm>
          <a:prstGeom prst="bentConnector3">
            <a:avLst>
              <a:gd name="adj1" fmla="val 1168544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/>
          <p:cNvCxnSpPr>
            <a:stCxn id="28" idx="2"/>
            <a:endCxn id="53" idx="0"/>
          </p:cNvCxnSpPr>
          <p:nvPr/>
        </p:nvCxnSpPr>
        <p:spPr>
          <a:xfrm>
            <a:off x="6115050" y="5401299"/>
            <a:ext cx="0" cy="157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/>
          <p:cNvSpPr/>
          <p:nvPr/>
        </p:nvSpPr>
        <p:spPr>
          <a:xfrm>
            <a:off x="5200650" y="5558570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総合ランキング表示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57" name="直線コネクタ 56"/>
          <p:cNvCxnSpPr>
            <a:stCxn id="53" idx="2"/>
            <a:endCxn id="59" idx="0"/>
          </p:cNvCxnSpPr>
          <p:nvPr/>
        </p:nvCxnSpPr>
        <p:spPr>
          <a:xfrm>
            <a:off x="6115050" y="5982519"/>
            <a:ext cx="0" cy="157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/>
          <p:cNvSpPr/>
          <p:nvPr/>
        </p:nvSpPr>
        <p:spPr>
          <a:xfrm>
            <a:off x="5200650" y="6139790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END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4813068" y="3150523"/>
            <a:ext cx="2626823" cy="1753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角丸四角形吹き出し 93"/>
          <p:cNvSpPr/>
          <p:nvPr/>
        </p:nvSpPr>
        <p:spPr>
          <a:xfrm>
            <a:off x="8098272" y="1690687"/>
            <a:ext cx="3636759" cy="3867883"/>
          </a:xfrm>
          <a:prstGeom prst="wedgeRoundRectCallout">
            <a:avLst>
              <a:gd name="adj1" fmla="val -72403"/>
              <a:gd name="adj2" fmla="val 6363"/>
              <a:gd name="adj3" fmla="val 1666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 smtClean="0"/>
              <a:t>詳しくは別</a:t>
            </a:r>
            <a:r>
              <a:rPr lang="ja-JP" altLang="en-US" sz="6000" dirty="0"/>
              <a:t>ページ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50602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画面遷移</a:t>
            </a:r>
            <a:r>
              <a:rPr lang="ja-JP" altLang="en-US" dirty="0" smtClean="0"/>
              <a:t>図（イベント時</a:t>
            </a:r>
            <a:r>
              <a:rPr lang="en-US" altLang="ja-JP" dirty="0" smtClean="0"/>
              <a:t>/PC</a:t>
            </a:r>
            <a:r>
              <a:rPr lang="ja-JP" altLang="en-US" dirty="0" smtClean="0"/>
              <a:t>側</a:t>
            </a:r>
            <a:r>
              <a:rPr lang="en-US" altLang="ja-JP" dirty="0" smtClean="0"/>
              <a:t>-</a:t>
            </a:r>
            <a:r>
              <a:rPr lang="ja-JP" altLang="en-US" dirty="0" smtClean="0"/>
              <a:t>詳細）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181600" y="1478713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はじめに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2742048" y="2685090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問題説明（動画）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2742047" y="3812494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問題（動画）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9" name="正方形/長方形 58"/>
          <p:cNvSpPr/>
          <p:nvPr/>
        </p:nvSpPr>
        <p:spPr>
          <a:xfrm>
            <a:off x="5181600" y="6214603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ランキング表示</a:t>
            </a: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5197074" y="2682962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 smtClean="0">
                <a:solidFill>
                  <a:schemeClr val="tx1"/>
                </a:solidFill>
              </a:rPr>
              <a:t>問題説明（静止画）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27" name="カギ線コネクタ 26"/>
          <p:cNvCxnSpPr>
            <a:stCxn id="17" idx="0"/>
            <a:endCxn id="4" idx="2"/>
          </p:cNvCxnSpPr>
          <p:nvPr/>
        </p:nvCxnSpPr>
        <p:spPr>
          <a:xfrm rot="5400000" flipH="1" flipV="1">
            <a:off x="4485010" y="1074100"/>
            <a:ext cx="782428" cy="24395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/>
          <p:cNvCxnSpPr>
            <a:stCxn id="26" idx="0"/>
            <a:endCxn id="4" idx="2"/>
          </p:cNvCxnSpPr>
          <p:nvPr/>
        </p:nvCxnSpPr>
        <p:spPr>
          <a:xfrm rot="16200000" flipV="1">
            <a:off x="5713587" y="2285075"/>
            <a:ext cx="780300" cy="154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/>
          <p:cNvSpPr/>
          <p:nvPr/>
        </p:nvSpPr>
        <p:spPr>
          <a:xfrm>
            <a:off x="7652100" y="2722270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>
                <a:solidFill>
                  <a:schemeClr val="tx1"/>
                </a:solidFill>
              </a:rPr>
              <a:t>問題説明（テキスト）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34" name="カギ線コネクタ 33"/>
          <p:cNvCxnSpPr>
            <a:stCxn id="33" idx="0"/>
            <a:endCxn id="4" idx="2"/>
          </p:cNvCxnSpPr>
          <p:nvPr/>
        </p:nvCxnSpPr>
        <p:spPr>
          <a:xfrm rot="16200000" flipV="1">
            <a:off x="6921446" y="1077216"/>
            <a:ext cx="819608" cy="24705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正方形/長方形 44"/>
          <p:cNvSpPr/>
          <p:nvPr/>
        </p:nvSpPr>
        <p:spPr>
          <a:xfrm>
            <a:off x="5205387" y="3814623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問題（静止画）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6" name="正方形/長方形 45"/>
          <p:cNvSpPr/>
          <p:nvPr/>
        </p:nvSpPr>
        <p:spPr>
          <a:xfrm>
            <a:off x="7652100" y="3820354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問題（テキスト）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8" name="カギ線コネクタ 47"/>
          <p:cNvCxnSpPr>
            <a:stCxn id="28" idx="0"/>
            <a:endCxn id="17" idx="2"/>
          </p:cNvCxnSpPr>
          <p:nvPr/>
        </p:nvCxnSpPr>
        <p:spPr>
          <a:xfrm rot="5400000" flipH="1" flipV="1">
            <a:off x="3304720" y="3460767"/>
            <a:ext cx="703455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カギ線コネクタ 50"/>
          <p:cNvCxnSpPr>
            <a:stCxn id="45" idx="0"/>
            <a:endCxn id="26" idx="2"/>
          </p:cNvCxnSpPr>
          <p:nvPr/>
        </p:nvCxnSpPr>
        <p:spPr>
          <a:xfrm rot="16200000" flipV="1">
            <a:off x="5761775" y="3456610"/>
            <a:ext cx="707712" cy="83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カギ線コネクタ 53"/>
          <p:cNvCxnSpPr>
            <a:stCxn id="46" idx="0"/>
            <a:endCxn id="33" idx="2"/>
          </p:cNvCxnSpPr>
          <p:nvPr/>
        </p:nvCxnSpPr>
        <p:spPr>
          <a:xfrm rot="5400000" flipH="1" flipV="1">
            <a:off x="8229433" y="3483287"/>
            <a:ext cx="674135" cy="127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カギ線コネクタ 57"/>
          <p:cNvCxnSpPr>
            <a:stCxn id="45" idx="0"/>
            <a:endCxn id="33" idx="2"/>
          </p:cNvCxnSpPr>
          <p:nvPr/>
        </p:nvCxnSpPr>
        <p:spPr>
          <a:xfrm rot="5400000" flipH="1" flipV="1">
            <a:off x="7008941" y="2257065"/>
            <a:ext cx="668404" cy="2446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カギ線コネクタ 59"/>
          <p:cNvCxnSpPr>
            <a:stCxn id="28" idx="0"/>
            <a:endCxn id="33" idx="2"/>
          </p:cNvCxnSpPr>
          <p:nvPr/>
        </p:nvCxnSpPr>
        <p:spPr>
          <a:xfrm rot="5400000" flipH="1" flipV="1">
            <a:off x="5778336" y="1024331"/>
            <a:ext cx="666275" cy="491005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/>
          <p:cNvCxnSpPr>
            <a:stCxn id="28" idx="2"/>
            <a:endCxn id="67" idx="0"/>
          </p:cNvCxnSpPr>
          <p:nvPr/>
        </p:nvCxnSpPr>
        <p:spPr>
          <a:xfrm>
            <a:off x="3656447" y="4236443"/>
            <a:ext cx="0" cy="3251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正方形/長方形 66"/>
          <p:cNvSpPr/>
          <p:nvPr/>
        </p:nvSpPr>
        <p:spPr>
          <a:xfrm>
            <a:off x="2742047" y="4561613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解答</a:t>
            </a:r>
            <a:r>
              <a:rPr kumimoji="1" lang="ja-JP" altLang="en-US" dirty="0" smtClean="0">
                <a:solidFill>
                  <a:schemeClr val="tx1"/>
                </a:solidFill>
              </a:rPr>
              <a:t>（動画）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9" name="正方形/長方形 68"/>
          <p:cNvSpPr/>
          <p:nvPr/>
        </p:nvSpPr>
        <p:spPr>
          <a:xfrm>
            <a:off x="5205386" y="4573609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解答</a:t>
            </a:r>
            <a:r>
              <a:rPr kumimoji="1" lang="ja-JP" altLang="en-US" dirty="0" smtClean="0">
                <a:solidFill>
                  <a:schemeClr val="tx1"/>
                </a:solidFill>
              </a:rPr>
              <a:t>（静止画）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0" name="正方形/長方形 69"/>
          <p:cNvSpPr/>
          <p:nvPr/>
        </p:nvSpPr>
        <p:spPr>
          <a:xfrm>
            <a:off x="7668725" y="4585605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解答</a:t>
            </a:r>
            <a:r>
              <a:rPr kumimoji="1" lang="ja-JP" altLang="en-US" dirty="0" smtClean="0">
                <a:solidFill>
                  <a:schemeClr val="tx1"/>
                </a:solidFill>
              </a:rPr>
              <a:t>（テキスト）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1" name="直線コネクタ 70"/>
          <p:cNvCxnSpPr>
            <a:stCxn id="45" idx="2"/>
            <a:endCxn id="69" idx="0"/>
          </p:cNvCxnSpPr>
          <p:nvPr/>
        </p:nvCxnSpPr>
        <p:spPr>
          <a:xfrm flipH="1">
            <a:off x="6119786" y="4238572"/>
            <a:ext cx="1" cy="3350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/>
          <p:cNvCxnSpPr>
            <a:stCxn id="46" idx="2"/>
            <a:endCxn id="70" idx="0"/>
          </p:cNvCxnSpPr>
          <p:nvPr/>
        </p:nvCxnSpPr>
        <p:spPr>
          <a:xfrm>
            <a:off x="8566500" y="4244303"/>
            <a:ext cx="16625" cy="3413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カギ線コネクタ 76"/>
          <p:cNvCxnSpPr>
            <a:stCxn id="59" idx="0"/>
            <a:endCxn id="70" idx="2"/>
          </p:cNvCxnSpPr>
          <p:nvPr/>
        </p:nvCxnSpPr>
        <p:spPr>
          <a:xfrm rot="5400000" flipH="1" flipV="1">
            <a:off x="6737038" y="4368517"/>
            <a:ext cx="1205049" cy="24871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カギ線コネクタ 79"/>
          <p:cNvCxnSpPr>
            <a:stCxn id="59" idx="0"/>
            <a:endCxn id="67" idx="2"/>
          </p:cNvCxnSpPr>
          <p:nvPr/>
        </p:nvCxnSpPr>
        <p:spPr>
          <a:xfrm rot="16200000" flipV="1">
            <a:off x="4261704" y="4380306"/>
            <a:ext cx="1229041" cy="243955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カギ線コネクタ 82"/>
          <p:cNvCxnSpPr>
            <a:stCxn id="59" idx="0"/>
            <a:endCxn id="69" idx="2"/>
          </p:cNvCxnSpPr>
          <p:nvPr/>
        </p:nvCxnSpPr>
        <p:spPr>
          <a:xfrm rot="5400000" flipH="1" flipV="1">
            <a:off x="5499371" y="5594188"/>
            <a:ext cx="1217045" cy="237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カギ線コネクタ 85"/>
          <p:cNvCxnSpPr>
            <a:stCxn id="59" idx="1"/>
            <a:endCxn id="4" idx="1"/>
          </p:cNvCxnSpPr>
          <p:nvPr/>
        </p:nvCxnSpPr>
        <p:spPr>
          <a:xfrm rot="10800000">
            <a:off x="5181600" y="1690688"/>
            <a:ext cx="12700" cy="4735890"/>
          </a:xfrm>
          <a:prstGeom prst="bentConnector3">
            <a:avLst>
              <a:gd name="adj1" fmla="val 2739272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90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画面遷移</a:t>
            </a:r>
            <a:r>
              <a:rPr lang="ja-JP" altLang="en-US" dirty="0" smtClean="0"/>
              <a:t>図（イベント時</a:t>
            </a:r>
            <a:r>
              <a:rPr lang="en-US" altLang="ja-JP" dirty="0" smtClean="0"/>
              <a:t>/</a:t>
            </a:r>
            <a:r>
              <a:rPr lang="ja-JP" altLang="en-US" dirty="0" smtClean="0"/>
              <a:t>スマホ側）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189912" y="2035666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START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線コネクタ 5"/>
          <p:cNvCxnSpPr>
            <a:stCxn id="4" idx="2"/>
            <a:endCxn id="8" idx="0"/>
          </p:cNvCxnSpPr>
          <p:nvPr/>
        </p:nvCxnSpPr>
        <p:spPr>
          <a:xfrm>
            <a:off x="6104312" y="2459615"/>
            <a:ext cx="6349" cy="157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/>
        </p:nvSpPr>
        <p:spPr>
          <a:xfrm>
            <a:off x="5196261" y="2617108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登録画面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202612" y="3201442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回答画面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/>
          <p:cNvCxnSpPr>
            <a:stCxn id="8" idx="2"/>
            <a:endCxn id="10" idx="0"/>
          </p:cNvCxnSpPr>
          <p:nvPr/>
        </p:nvCxnSpPr>
        <p:spPr>
          <a:xfrm>
            <a:off x="6110661" y="3041057"/>
            <a:ext cx="6351" cy="160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>
            <a:stCxn id="10" idx="2"/>
            <a:endCxn id="17" idx="0"/>
          </p:cNvCxnSpPr>
          <p:nvPr/>
        </p:nvCxnSpPr>
        <p:spPr>
          <a:xfrm>
            <a:off x="6117012" y="3625391"/>
            <a:ext cx="0" cy="1572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5202612" y="3782662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回答完了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7594713" y="3201441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回答失敗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0" name="直線コネクタ 19"/>
          <p:cNvCxnSpPr>
            <a:stCxn id="10" idx="3"/>
            <a:endCxn id="19" idx="1"/>
          </p:cNvCxnSpPr>
          <p:nvPr/>
        </p:nvCxnSpPr>
        <p:spPr>
          <a:xfrm flipV="1">
            <a:off x="7031412" y="3413416"/>
            <a:ext cx="563301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/>
          <p:cNvCxnSpPr>
            <a:stCxn id="17" idx="1"/>
            <a:endCxn id="10" idx="1"/>
          </p:cNvCxnSpPr>
          <p:nvPr/>
        </p:nvCxnSpPr>
        <p:spPr>
          <a:xfrm rot="10800000">
            <a:off x="5202612" y="3413417"/>
            <a:ext cx="12700" cy="58122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8" idx="3"/>
            <a:endCxn id="19" idx="0"/>
          </p:cNvCxnSpPr>
          <p:nvPr/>
        </p:nvCxnSpPr>
        <p:spPr>
          <a:xfrm>
            <a:off x="7025061" y="2829083"/>
            <a:ext cx="1484052" cy="372358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5208961" y="4418587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アンケート画面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コネクタ 30"/>
          <p:cNvCxnSpPr>
            <a:stCxn id="17" idx="2"/>
            <a:endCxn id="30" idx="0"/>
          </p:cNvCxnSpPr>
          <p:nvPr/>
        </p:nvCxnSpPr>
        <p:spPr>
          <a:xfrm>
            <a:off x="6117012" y="4206611"/>
            <a:ext cx="6349" cy="2119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カギ線コネクタ 35"/>
          <p:cNvCxnSpPr>
            <a:stCxn id="30" idx="1"/>
            <a:endCxn id="8" idx="1"/>
          </p:cNvCxnSpPr>
          <p:nvPr/>
        </p:nvCxnSpPr>
        <p:spPr>
          <a:xfrm rot="10800000">
            <a:off x="5196261" y="2829084"/>
            <a:ext cx="12700" cy="1801479"/>
          </a:xfrm>
          <a:prstGeom prst="bentConnector3">
            <a:avLst>
              <a:gd name="adj1" fmla="val 353636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10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画面遷移</a:t>
            </a:r>
            <a:r>
              <a:rPr lang="ja-JP" altLang="en-US" dirty="0" smtClean="0"/>
              <a:t>図（準備時）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106783" y="1749606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solidFill>
                  <a:schemeClr val="tx1"/>
                </a:solidFill>
              </a:rPr>
              <a:t>START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6" name="直線コネクタ 5"/>
          <p:cNvCxnSpPr>
            <a:stCxn id="4" idx="2"/>
            <a:endCxn id="8" idx="0"/>
          </p:cNvCxnSpPr>
          <p:nvPr/>
        </p:nvCxnSpPr>
        <p:spPr>
          <a:xfrm>
            <a:off x="6021183" y="2173555"/>
            <a:ext cx="6349" cy="1574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/>
        </p:nvSpPr>
        <p:spPr>
          <a:xfrm>
            <a:off x="5113132" y="2331048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ログイン</a:t>
            </a:r>
            <a:r>
              <a:rPr kumimoji="1" lang="ja-JP" altLang="en-US" dirty="0" smtClean="0">
                <a:solidFill>
                  <a:schemeClr val="tx1"/>
                </a:solidFill>
              </a:rPr>
              <a:t>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5119483" y="2915382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マイページ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線コネクタ 10"/>
          <p:cNvCxnSpPr>
            <a:stCxn id="8" idx="2"/>
            <a:endCxn id="10" idx="0"/>
          </p:cNvCxnSpPr>
          <p:nvPr/>
        </p:nvCxnSpPr>
        <p:spPr>
          <a:xfrm>
            <a:off x="6027532" y="2754997"/>
            <a:ext cx="6351" cy="160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/>
          <p:cNvSpPr/>
          <p:nvPr/>
        </p:nvSpPr>
        <p:spPr>
          <a:xfrm>
            <a:off x="6665650" y="4256488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デモページ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7453395" y="2331048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新規登録画面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コネクタ 14"/>
          <p:cNvCxnSpPr>
            <a:stCxn id="8" idx="3"/>
            <a:endCxn id="19" idx="1"/>
          </p:cNvCxnSpPr>
          <p:nvPr/>
        </p:nvCxnSpPr>
        <p:spPr>
          <a:xfrm>
            <a:off x="6941932" y="2543023"/>
            <a:ext cx="51146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/>
          <p:cNvCxnSpPr>
            <a:stCxn id="10" idx="3"/>
            <a:endCxn id="19" idx="2"/>
          </p:cNvCxnSpPr>
          <p:nvPr/>
        </p:nvCxnSpPr>
        <p:spPr>
          <a:xfrm flipV="1">
            <a:off x="6948283" y="2754997"/>
            <a:ext cx="1419512" cy="372360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/>
          <p:cNvSpPr/>
          <p:nvPr/>
        </p:nvSpPr>
        <p:spPr>
          <a:xfrm>
            <a:off x="8912857" y="4256487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回答履歴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3" name="カギ線コネクタ 22"/>
          <p:cNvCxnSpPr>
            <a:stCxn id="22" idx="0"/>
            <a:endCxn id="10" idx="2"/>
          </p:cNvCxnSpPr>
          <p:nvPr/>
        </p:nvCxnSpPr>
        <p:spPr>
          <a:xfrm rot="16200000" flipV="1">
            <a:off x="7471992" y="1901222"/>
            <a:ext cx="917156" cy="37933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正方形/長方形 25"/>
          <p:cNvSpPr/>
          <p:nvPr/>
        </p:nvSpPr>
        <p:spPr>
          <a:xfrm>
            <a:off x="4418443" y="4251317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再生ページ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2171236" y="4251317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tx1"/>
                </a:solidFill>
              </a:rPr>
              <a:t>コンテンツ登録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9" name="カギ線コネクタ 28"/>
          <p:cNvCxnSpPr>
            <a:stCxn id="26" idx="0"/>
            <a:endCxn id="10" idx="2"/>
          </p:cNvCxnSpPr>
          <p:nvPr/>
        </p:nvCxnSpPr>
        <p:spPr>
          <a:xfrm rot="5400000" flipH="1" flipV="1">
            <a:off x="5227370" y="3444804"/>
            <a:ext cx="911986" cy="70104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カギ線コネクタ 33"/>
          <p:cNvCxnSpPr>
            <a:stCxn id="17" idx="0"/>
            <a:endCxn id="10" idx="2"/>
          </p:cNvCxnSpPr>
          <p:nvPr/>
        </p:nvCxnSpPr>
        <p:spPr>
          <a:xfrm rot="16200000" flipV="1">
            <a:off x="6348389" y="3024826"/>
            <a:ext cx="917157" cy="154616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カギ線コネクタ 36"/>
          <p:cNvCxnSpPr>
            <a:stCxn id="28" idx="0"/>
            <a:endCxn id="10" idx="2"/>
          </p:cNvCxnSpPr>
          <p:nvPr/>
        </p:nvCxnSpPr>
        <p:spPr>
          <a:xfrm rot="5400000" flipH="1" flipV="1">
            <a:off x="4103766" y="2321201"/>
            <a:ext cx="911986" cy="29482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正方形/長方形 39"/>
          <p:cNvSpPr/>
          <p:nvPr/>
        </p:nvSpPr>
        <p:spPr>
          <a:xfrm>
            <a:off x="5119483" y="5375277"/>
            <a:ext cx="1828800" cy="42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chemeClr val="tx1"/>
                </a:solidFill>
              </a:rPr>
              <a:t>マイページへ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1" name="カギ線コネクタ 40"/>
          <p:cNvCxnSpPr>
            <a:stCxn id="40" idx="0"/>
            <a:endCxn id="28" idx="2"/>
          </p:cNvCxnSpPr>
          <p:nvPr/>
        </p:nvCxnSpPr>
        <p:spPr>
          <a:xfrm rot="16200000" flipV="1">
            <a:off x="4209755" y="3551148"/>
            <a:ext cx="700011" cy="29482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カギ線コネクタ 43"/>
          <p:cNvCxnSpPr>
            <a:stCxn id="40" idx="0"/>
            <a:endCxn id="26" idx="2"/>
          </p:cNvCxnSpPr>
          <p:nvPr/>
        </p:nvCxnSpPr>
        <p:spPr>
          <a:xfrm rot="16200000" flipV="1">
            <a:off x="5333358" y="4674752"/>
            <a:ext cx="700011" cy="70104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カギ線コネクタ 46"/>
          <p:cNvCxnSpPr>
            <a:stCxn id="40" idx="0"/>
            <a:endCxn id="17" idx="2"/>
          </p:cNvCxnSpPr>
          <p:nvPr/>
        </p:nvCxnSpPr>
        <p:spPr>
          <a:xfrm rot="5400000" flipH="1" flipV="1">
            <a:off x="6459546" y="4254774"/>
            <a:ext cx="694840" cy="154616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カギ線コネクタ 50"/>
          <p:cNvCxnSpPr>
            <a:stCxn id="40" idx="0"/>
            <a:endCxn id="22" idx="2"/>
          </p:cNvCxnSpPr>
          <p:nvPr/>
        </p:nvCxnSpPr>
        <p:spPr>
          <a:xfrm rot="5400000" flipH="1" flipV="1">
            <a:off x="7583150" y="3131170"/>
            <a:ext cx="694841" cy="379337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カギ線コネクタ 52"/>
          <p:cNvCxnSpPr>
            <a:stCxn id="10" idx="1"/>
            <a:endCxn id="40" idx="1"/>
          </p:cNvCxnSpPr>
          <p:nvPr/>
        </p:nvCxnSpPr>
        <p:spPr>
          <a:xfrm rot="10800000" flipV="1">
            <a:off x="5119483" y="3127356"/>
            <a:ext cx="12700" cy="2459895"/>
          </a:xfrm>
          <a:prstGeom prst="bentConnector3">
            <a:avLst>
              <a:gd name="adj1" fmla="val 2608363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59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画面イメージ（スマホ）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532" y="1800630"/>
            <a:ext cx="2171581" cy="4415545"/>
          </a:xfrm>
          <a:prstGeom prst="rect">
            <a:avLst/>
          </a:prstGeom>
        </p:spPr>
      </p:pic>
      <p:sp>
        <p:nvSpPr>
          <p:cNvPr id="5" name="正方形/長方形 4"/>
          <p:cNvSpPr/>
          <p:nvPr/>
        </p:nvSpPr>
        <p:spPr>
          <a:xfrm>
            <a:off x="3929723" y="2330332"/>
            <a:ext cx="1928553" cy="3358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3989706" y="2895597"/>
            <a:ext cx="1810384" cy="5403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①</a:t>
            </a:r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3989706" y="3605233"/>
            <a:ext cx="1810384" cy="540328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" name="角丸四角形 7"/>
          <p:cNvSpPr/>
          <p:nvPr/>
        </p:nvSpPr>
        <p:spPr>
          <a:xfrm>
            <a:off x="3989706" y="4314869"/>
            <a:ext cx="1810384" cy="540328"/>
          </a:xfrm>
          <a:prstGeom prst="roundRect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9" name="角丸四角形 8"/>
          <p:cNvSpPr/>
          <p:nvPr/>
        </p:nvSpPr>
        <p:spPr>
          <a:xfrm>
            <a:off x="3989706" y="5024505"/>
            <a:ext cx="1810384" cy="5403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96201" y="2441611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答えは？</a:t>
            </a:r>
            <a:endParaRPr kumimoji="1" lang="ja-JP" altLang="en-US" dirty="0"/>
          </a:p>
        </p:txBody>
      </p:sp>
      <p:pic>
        <p:nvPicPr>
          <p:cNvPr id="20" name="図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628" y="1800631"/>
            <a:ext cx="2171581" cy="4415545"/>
          </a:xfrm>
          <a:prstGeom prst="rect">
            <a:avLst/>
          </a:prstGeom>
        </p:spPr>
      </p:pic>
      <p:sp>
        <p:nvSpPr>
          <p:cNvPr id="21" name="正方形/長方形 20"/>
          <p:cNvSpPr/>
          <p:nvPr/>
        </p:nvSpPr>
        <p:spPr>
          <a:xfrm>
            <a:off x="6758819" y="2330333"/>
            <a:ext cx="1928553" cy="3358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7043004" y="36778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回答完了！</a:t>
            </a:r>
            <a:endParaRPr kumimoji="1" lang="ja-JP" altLang="en-US" dirty="0"/>
          </a:p>
        </p:txBody>
      </p:sp>
      <p:pic>
        <p:nvPicPr>
          <p:cNvPr id="27" name="図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9223" y="1800631"/>
            <a:ext cx="2171581" cy="4415545"/>
          </a:xfrm>
          <a:prstGeom prst="rect">
            <a:avLst/>
          </a:prstGeom>
        </p:spPr>
      </p:pic>
      <p:sp>
        <p:nvSpPr>
          <p:cNvPr id="28" name="正方形/長方形 27"/>
          <p:cNvSpPr/>
          <p:nvPr/>
        </p:nvSpPr>
        <p:spPr>
          <a:xfrm>
            <a:off x="9521414" y="2330333"/>
            <a:ext cx="1928553" cy="3358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9622717" y="3677863"/>
            <a:ext cx="1752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/>
              <a:t>回答送信失敗</a:t>
            </a:r>
            <a:r>
              <a:rPr lang="en-US" altLang="ja-JP" dirty="0" smtClean="0"/>
              <a:t>…</a:t>
            </a:r>
          </a:p>
          <a:p>
            <a:pPr algn="ctr"/>
            <a:r>
              <a:rPr kumimoji="1" lang="ja-JP" altLang="en-US" sz="1400" dirty="0" smtClean="0"/>
              <a:t>もう一度回答ください</a:t>
            </a:r>
            <a:endParaRPr kumimoji="1" lang="ja-JP" altLang="en-US" sz="1400" dirty="0"/>
          </a:p>
        </p:txBody>
      </p:sp>
      <p:pic>
        <p:nvPicPr>
          <p:cNvPr id="30" name="図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591" y="1800630"/>
            <a:ext cx="2171581" cy="4415545"/>
          </a:xfrm>
          <a:prstGeom prst="rect">
            <a:avLst/>
          </a:prstGeom>
        </p:spPr>
      </p:pic>
      <p:sp>
        <p:nvSpPr>
          <p:cNvPr id="31" name="正方形/長方形 30"/>
          <p:cNvSpPr/>
          <p:nvPr/>
        </p:nvSpPr>
        <p:spPr>
          <a:xfrm>
            <a:off x="1037782" y="2330332"/>
            <a:ext cx="1928553" cy="33583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994005" y="2693355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名前を入力ください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/>
        </p:nvSpPr>
        <p:spPr>
          <a:xfrm>
            <a:off x="1654233" y="3527882"/>
            <a:ext cx="1047403" cy="2660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1053308" y="343592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名前</a:t>
            </a:r>
            <a:endParaRPr kumimoji="1" lang="ja-JP" altLang="en-US" dirty="0"/>
          </a:p>
        </p:txBody>
      </p:sp>
      <p:sp>
        <p:nvSpPr>
          <p:cNvPr id="35" name="角丸四角形 34"/>
          <p:cNvSpPr/>
          <p:nvPr/>
        </p:nvSpPr>
        <p:spPr>
          <a:xfrm>
            <a:off x="1451147" y="4290045"/>
            <a:ext cx="1143314" cy="2506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 smtClean="0">
                <a:solidFill>
                  <a:schemeClr val="tx1"/>
                </a:solidFill>
              </a:rPr>
              <a:t>ゲームスタート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角丸四角形 35"/>
          <p:cNvSpPr/>
          <p:nvPr/>
        </p:nvSpPr>
        <p:spPr>
          <a:xfrm>
            <a:off x="9699576" y="4410674"/>
            <a:ext cx="1550873" cy="2314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 smtClean="0">
                <a:solidFill>
                  <a:schemeClr val="tx1"/>
                </a:solidFill>
              </a:rPr>
              <a:t>ゲームスタートへ戻る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角丸四角形 36"/>
          <p:cNvSpPr/>
          <p:nvPr/>
        </p:nvSpPr>
        <p:spPr>
          <a:xfrm>
            <a:off x="6903731" y="4353604"/>
            <a:ext cx="1550873" cy="2314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 smtClean="0">
                <a:solidFill>
                  <a:schemeClr val="tx1"/>
                </a:solidFill>
              </a:rPr>
              <a:t>回答画面へ戻る</a:t>
            </a:r>
            <a:endParaRPr kumimoji="1" lang="ja-JP" altLang="en-US" sz="1100" dirty="0">
              <a:solidFill>
                <a:schemeClr val="tx1"/>
              </a:solidFill>
            </a:endParaRPr>
          </a:p>
        </p:txBody>
      </p:sp>
      <p:cxnSp>
        <p:nvCxnSpPr>
          <p:cNvPr id="24" name="直線コネクタ 23"/>
          <p:cNvCxnSpPr/>
          <p:nvPr/>
        </p:nvCxnSpPr>
        <p:spPr>
          <a:xfrm>
            <a:off x="6102349" y="2484104"/>
            <a:ext cx="6351" cy="1603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423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択画面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367671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択画面　答え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713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画面イメージ　ランキング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476" y="1880659"/>
            <a:ext cx="7619047" cy="4241270"/>
          </a:xfrm>
        </p:spPr>
      </p:pic>
    </p:spTree>
    <p:extLst>
      <p:ext uri="{BB962C8B-B14F-4D97-AF65-F5344CB8AC3E}">
        <p14:creationId xmlns:p14="http://schemas.microsoft.com/office/powerpoint/2010/main" val="196134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09600" y="1143000"/>
            <a:ext cx="110363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2000" b="1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SmaQ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09600" y="6324600"/>
            <a:ext cx="110363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© </a:t>
            </a:r>
            <a:r>
              <a:rPr lang="en-US" altLang="ja-JP" sz="14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Suteki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Kobo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Corp.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7" name="表 6"/>
          <p:cNvGraphicFramePr>
            <a:graphicFrameLocks noGrp="1"/>
          </p:cNvGraphicFramePr>
          <p:nvPr>
            <p:extLst/>
          </p:nvPr>
        </p:nvGraphicFramePr>
        <p:xfrm>
          <a:off x="2063750" y="1964266"/>
          <a:ext cx="8128000" cy="4079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59300">
                  <a:extLst>
                    <a:ext uri="{9D8B030D-6E8A-4147-A177-3AD203B41FA5}">
                      <a16:colId xmlns:a16="http://schemas.microsoft.com/office/drawing/2014/main" xmlns="" val="1354328627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xmlns="" val="192705092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xmlns="" val="32637299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xmlns="" val="242500949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xmlns="" val="3464729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イベント名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編集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再生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テスト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履歴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2732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20150918_</a:t>
                      </a:r>
                      <a:r>
                        <a:rPr kumimoji="1" lang="ja-JP" altLang="en-US" dirty="0" smtClean="0"/>
                        <a:t>小島結婚式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1952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20151031_HalloweenParty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4653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20151229_</a:t>
                      </a:r>
                      <a:r>
                        <a:rPr kumimoji="1" lang="ja-JP" altLang="en-US" dirty="0" smtClean="0"/>
                        <a:t>忘年会</a:t>
                      </a:r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526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8548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364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263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149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878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3573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85668217"/>
                  </a:ext>
                </a:extLst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640349" y="489288"/>
            <a:ext cx="703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画面イメージ（マイページ）</a:t>
            </a:r>
            <a:endParaRPr kumimoji="1" lang="ja-JP" altLang="en-US" sz="2400" b="1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6917322" y="2384091"/>
            <a:ext cx="2995359" cy="300788"/>
            <a:chOff x="6917322" y="2384091"/>
            <a:chExt cx="2995359" cy="300788"/>
          </a:xfrm>
        </p:grpSpPr>
        <p:pic>
          <p:nvPicPr>
            <p:cNvPr id="1026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グループ化 13"/>
          <p:cNvGrpSpPr/>
          <p:nvPr/>
        </p:nvGrpSpPr>
        <p:grpSpPr>
          <a:xfrm>
            <a:off x="6913307" y="2741029"/>
            <a:ext cx="2995359" cy="300788"/>
            <a:chOff x="6917322" y="2384091"/>
            <a:chExt cx="2995359" cy="300788"/>
          </a:xfrm>
        </p:grpSpPr>
        <p:pic>
          <p:nvPicPr>
            <p:cNvPr id="15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グループ化 18"/>
          <p:cNvGrpSpPr/>
          <p:nvPr/>
        </p:nvGrpSpPr>
        <p:grpSpPr>
          <a:xfrm>
            <a:off x="6909292" y="3097967"/>
            <a:ext cx="2995359" cy="300788"/>
            <a:chOff x="6917322" y="2384091"/>
            <a:chExt cx="2995359" cy="300788"/>
          </a:xfrm>
        </p:grpSpPr>
        <p:pic>
          <p:nvPicPr>
            <p:cNvPr id="20" name="Picture 2" descr="http://iconmonstr.com/g/gd/makefg.php?i=s2/default/iconmonstr-video-play-3-icon.png&amp;r=0&amp;g=0&amp;b=0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8497" y="2384091"/>
              <a:ext cx="300788" cy="300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http://iconmonstr.com/g/gd/makefg.php?i=s2/default/iconmonstr-edit-8-icon.png&amp;r=0&amp;g=0&amp;b=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22" y="2385927"/>
              <a:ext cx="286920" cy="286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6" descr="http://iconmonstr.com/g/gd/makefg.php?i=s2/default/iconmonstr-flask-icon.png&amp;r=0&amp;g=0&amp;b=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0269" y="2402637"/>
              <a:ext cx="253499" cy="253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http://iconmonstr.com/g/gd/makefg.php?i=s2/default/rewind-3-icon.png&amp;r=0&amp;g=0&amp;b=0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3925" y="2384091"/>
              <a:ext cx="288756" cy="2887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テキスト ボックス 10"/>
          <p:cNvSpPr txBox="1"/>
          <p:nvPr/>
        </p:nvSpPr>
        <p:spPr>
          <a:xfrm>
            <a:off x="7555833" y="1262808"/>
            <a:ext cx="3877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小林 宏　</a:t>
            </a:r>
            <a:r>
              <a:rPr kumimoji="1" lang="ja-JP" altLang="en-US" sz="1400" u="sng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ログアウト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09600" y="1663700"/>
            <a:ext cx="1282700" cy="4660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10363200" y="1663700"/>
            <a:ext cx="1282700" cy="4660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92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609600" y="1143000"/>
            <a:ext cx="11036300" cy="520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2000" b="1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SmaQ</a:t>
            </a:r>
            <a:endParaRPr kumimoji="1" lang="ja-JP" altLang="en-US" sz="20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609600" y="6324600"/>
            <a:ext cx="110363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© </a:t>
            </a:r>
            <a:r>
              <a:rPr lang="en-US" altLang="ja-JP" sz="1400" dirty="0" err="1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Suteki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Kobo</a:t>
            </a:r>
            <a:r>
              <a:rPr lang="ja-JP" altLang="en-US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</a:rPr>
              <a:t>Corp.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0349" y="489288"/>
            <a:ext cx="703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 smtClean="0"/>
              <a:t>画面イメージ（</a:t>
            </a:r>
            <a:r>
              <a:rPr lang="ja-JP" altLang="en-US" sz="2400" b="1" dirty="0" smtClean="0"/>
              <a:t>問題登録</a:t>
            </a:r>
            <a:r>
              <a:rPr lang="ja-JP" altLang="en-US" sz="2400" b="1" dirty="0"/>
              <a:t>画面</a:t>
            </a:r>
            <a:r>
              <a:rPr kumimoji="1" lang="ja-JP" altLang="en-US" sz="2400" b="1" dirty="0" smtClean="0"/>
              <a:t>）</a:t>
            </a:r>
            <a:endParaRPr kumimoji="1" lang="ja-JP" altLang="en-US" sz="2400" b="1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555833" y="1262808"/>
            <a:ext cx="3877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小林 宏　</a:t>
            </a:r>
            <a:r>
              <a:rPr kumimoji="1" lang="ja-JP" altLang="en-US" sz="1400" u="sng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ログアウト</a:t>
            </a:r>
            <a:endParaRPr kumimoji="1" lang="ja-JP" altLang="en-US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609600" y="1663700"/>
            <a:ext cx="1282700" cy="4660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10363200" y="1663700"/>
            <a:ext cx="1282700" cy="4660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2311400" y="1943100"/>
            <a:ext cx="76327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/>
              <a:t>質問①</a:t>
            </a:r>
            <a:endParaRPr kumimoji="1" lang="ja-JP" altLang="en-US" sz="1400" dirty="0"/>
          </a:p>
        </p:txBody>
      </p:sp>
      <p:sp>
        <p:nvSpPr>
          <p:cNvPr id="26" name="正方形/長方形 25"/>
          <p:cNvSpPr/>
          <p:nvPr/>
        </p:nvSpPr>
        <p:spPr>
          <a:xfrm>
            <a:off x="2311400" y="5435600"/>
            <a:ext cx="76327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 smtClean="0"/>
              <a:t>質問②</a:t>
            </a:r>
            <a:endParaRPr kumimoji="1" lang="ja-JP" altLang="en-US" sz="1400" dirty="0"/>
          </a:p>
        </p:txBody>
      </p:sp>
      <p:sp>
        <p:nvSpPr>
          <p:cNvPr id="10" name="正方形/長方形 9"/>
          <p:cNvSpPr/>
          <p:nvPr/>
        </p:nvSpPr>
        <p:spPr>
          <a:xfrm>
            <a:off x="3441700" y="3390900"/>
            <a:ext cx="1079500" cy="22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smtClean="0"/>
              <a:t>画像</a:t>
            </a:r>
            <a:endParaRPr kumimoji="1" lang="ja-JP" altLang="en-US" sz="12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628900" y="33655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 smtClean="0"/>
              <a:t>問題種別</a:t>
            </a:r>
            <a:endParaRPr kumimoji="1" lang="ja-JP" altLang="en-US" sz="1200" dirty="0"/>
          </a:p>
        </p:txBody>
      </p:sp>
      <p:sp>
        <p:nvSpPr>
          <p:cNvPr id="29" name="正方形/長方形 28"/>
          <p:cNvSpPr/>
          <p:nvPr/>
        </p:nvSpPr>
        <p:spPr>
          <a:xfrm>
            <a:off x="3441700" y="4140200"/>
            <a:ext cx="5689600" cy="18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smtClean="0"/>
              <a:t>あああああ</a:t>
            </a:r>
            <a:endParaRPr kumimoji="1" lang="ja-JP" altLang="en-US" sz="12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628900" y="41148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/>
              <a:t>選択肢</a:t>
            </a:r>
            <a:r>
              <a:rPr lang="en-US" altLang="ja-JP" sz="1200" dirty="0" smtClean="0"/>
              <a:t>A</a:t>
            </a:r>
            <a:endParaRPr kumimoji="1" lang="ja-JP" altLang="en-US" sz="1200" dirty="0"/>
          </a:p>
        </p:txBody>
      </p:sp>
      <p:sp>
        <p:nvSpPr>
          <p:cNvPr id="37" name="正方形/長方形 36"/>
          <p:cNvSpPr/>
          <p:nvPr/>
        </p:nvSpPr>
        <p:spPr>
          <a:xfrm>
            <a:off x="3441700" y="4432300"/>
            <a:ext cx="5689600" cy="18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err="1" smtClean="0"/>
              <a:t>いいいい</a:t>
            </a:r>
            <a:r>
              <a:rPr kumimoji="1" lang="ja-JP" altLang="en-US" sz="1200" dirty="0" smtClean="0"/>
              <a:t>いい</a:t>
            </a:r>
            <a:endParaRPr kumimoji="1" lang="ja-JP" altLang="en-US" sz="1200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628900" y="44069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/>
              <a:t>選択肢</a:t>
            </a:r>
            <a:r>
              <a:rPr lang="en-US" altLang="ja-JP" sz="1200" dirty="0" smtClean="0"/>
              <a:t>B</a:t>
            </a:r>
            <a:endParaRPr kumimoji="1" lang="ja-JP" altLang="en-US" sz="1200" dirty="0"/>
          </a:p>
        </p:txBody>
      </p:sp>
      <p:sp>
        <p:nvSpPr>
          <p:cNvPr id="39" name="正方形/長方形 38"/>
          <p:cNvSpPr/>
          <p:nvPr/>
        </p:nvSpPr>
        <p:spPr>
          <a:xfrm>
            <a:off x="3441700" y="4724400"/>
            <a:ext cx="5689600" cy="18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err="1" smtClean="0"/>
              <a:t>うううううううう</a:t>
            </a:r>
            <a:endParaRPr kumimoji="1" lang="ja-JP" altLang="en-US" sz="1200" dirty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2628900" y="46990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/>
              <a:t>選択肢</a:t>
            </a:r>
            <a:r>
              <a:rPr lang="en-US" altLang="ja-JP" sz="1200" dirty="0" smtClean="0"/>
              <a:t>C</a:t>
            </a:r>
            <a:endParaRPr kumimoji="1" lang="ja-JP" altLang="en-US" sz="1200" dirty="0"/>
          </a:p>
        </p:txBody>
      </p:sp>
      <p:sp>
        <p:nvSpPr>
          <p:cNvPr id="41" name="正方形/長方形 40"/>
          <p:cNvSpPr/>
          <p:nvPr/>
        </p:nvSpPr>
        <p:spPr>
          <a:xfrm>
            <a:off x="3441700" y="5016500"/>
            <a:ext cx="5689600" cy="18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smtClean="0"/>
              <a:t>え</a:t>
            </a:r>
            <a:r>
              <a:rPr kumimoji="1" lang="ja-JP" altLang="en-US" sz="1200" dirty="0" err="1" smtClean="0"/>
              <a:t>ええ</a:t>
            </a:r>
            <a:r>
              <a:rPr kumimoji="1" lang="ja-JP" altLang="en-US" sz="1200" dirty="0" smtClean="0"/>
              <a:t>えええええええええ</a:t>
            </a:r>
            <a:endParaRPr kumimoji="1" lang="ja-JP" altLang="en-US" sz="1200" dirty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2628900" y="49911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 smtClean="0"/>
              <a:t>選択肢</a:t>
            </a:r>
            <a:r>
              <a:rPr lang="en-US" altLang="ja-JP" sz="1200" dirty="0" smtClean="0"/>
              <a:t>D</a:t>
            </a:r>
            <a:endParaRPr kumimoji="1" lang="ja-JP" altLang="en-US" sz="1200" dirty="0"/>
          </a:p>
        </p:txBody>
      </p:sp>
      <p:sp>
        <p:nvSpPr>
          <p:cNvPr id="43" name="正方形/長方形 42"/>
          <p:cNvSpPr/>
          <p:nvPr/>
        </p:nvSpPr>
        <p:spPr>
          <a:xfrm>
            <a:off x="3441700" y="3721100"/>
            <a:ext cx="5689600" cy="3547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 smtClean="0"/>
              <a:t>マウス使いづらい</a:t>
            </a:r>
            <a:endParaRPr kumimoji="1" lang="ja-JP" altLang="en-US" sz="12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628900" y="36957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質問文</a:t>
            </a:r>
            <a:endParaRPr kumimoji="1" lang="ja-JP" altLang="en-US" sz="1200" dirty="0"/>
          </a:p>
        </p:txBody>
      </p:sp>
      <p:sp>
        <p:nvSpPr>
          <p:cNvPr id="45" name="正方形/長方形 44"/>
          <p:cNvSpPr/>
          <p:nvPr/>
        </p:nvSpPr>
        <p:spPr>
          <a:xfrm>
            <a:off x="3441700" y="2628900"/>
            <a:ext cx="1079500" cy="228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200" dirty="0" smtClean="0"/>
              <a:t>画像</a:t>
            </a:r>
            <a:endParaRPr kumimoji="1" lang="ja-JP" altLang="en-US" sz="1200" dirty="0"/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2628900" y="26035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前説</a:t>
            </a:r>
            <a:r>
              <a:rPr kumimoji="1" lang="ja-JP" altLang="en-US" sz="1200" dirty="0" smtClean="0"/>
              <a:t>種別</a:t>
            </a:r>
            <a:endParaRPr kumimoji="1" lang="ja-JP" altLang="en-US" sz="1200" dirty="0"/>
          </a:p>
        </p:txBody>
      </p:sp>
      <p:sp>
        <p:nvSpPr>
          <p:cNvPr id="47" name="正方形/長方形 46"/>
          <p:cNvSpPr/>
          <p:nvPr/>
        </p:nvSpPr>
        <p:spPr>
          <a:xfrm>
            <a:off x="3441700" y="2959100"/>
            <a:ext cx="5689600" cy="3547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200" dirty="0" smtClean="0"/>
              <a:t>マウス使いづらい</a:t>
            </a:r>
            <a:endParaRPr kumimoji="1" lang="ja-JP" altLang="en-US" sz="1200" dirty="0"/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628900" y="2933700"/>
            <a:ext cx="127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前説</a:t>
            </a:r>
            <a:r>
              <a:rPr lang="ja-JP" altLang="en-US" sz="1200" dirty="0" smtClean="0"/>
              <a:t>文</a:t>
            </a:r>
            <a:endParaRPr kumimoji="1" lang="ja-JP" altLang="en-US" sz="1200" dirty="0"/>
          </a:p>
        </p:txBody>
      </p:sp>
      <p:sp>
        <p:nvSpPr>
          <p:cNvPr id="49" name="正方形/長方形 48"/>
          <p:cNvSpPr/>
          <p:nvPr/>
        </p:nvSpPr>
        <p:spPr>
          <a:xfrm>
            <a:off x="4524374" y="2628127"/>
            <a:ext cx="282575" cy="2285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/>
              <a:t>▼</a:t>
            </a:r>
            <a:endParaRPr kumimoji="1" lang="ja-JP" altLang="en-US" sz="1200" dirty="0"/>
          </a:p>
        </p:txBody>
      </p:sp>
      <p:sp>
        <p:nvSpPr>
          <p:cNvPr id="50" name="正方形/長方形 49"/>
          <p:cNvSpPr/>
          <p:nvPr/>
        </p:nvSpPr>
        <p:spPr>
          <a:xfrm>
            <a:off x="4521198" y="3390900"/>
            <a:ext cx="282575" cy="2278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 smtClean="0"/>
              <a:t>▼</a:t>
            </a:r>
            <a:endParaRPr kumimoji="1" lang="ja-JP" altLang="en-US" sz="1200" dirty="0"/>
          </a:p>
        </p:txBody>
      </p:sp>
      <p:pic>
        <p:nvPicPr>
          <p:cNvPr id="1026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562" y="3027402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5" y="3792922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5" y="4103706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5" y="4414490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5" y="4712574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http://iconmonstr.com/g/gd/makefg.php?i=s2/default/iconmonstr-text-file-4-icon.png&amp;r=0&amp;g=0&amp;b=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75" y="5010658"/>
            <a:ext cx="255589" cy="2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55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メモ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将来的</a:t>
            </a:r>
            <a:r>
              <a:rPr lang="ja-JP" altLang="en-US" dirty="0"/>
              <a:t>には管理画面を作成する</a:t>
            </a:r>
            <a:endParaRPr lang="en-US" altLang="ja-JP" dirty="0"/>
          </a:p>
          <a:p>
            <a:r>
              <a:rPr lang="en-US" altLang="ja-JP" dirty="0"/>
              <a:t>10</a:t>
            </a:r>
            <a:r>
              <a:rPr lang="ja-JP" altLang="en-US" dirty="0"/>
              <a:t>問出したら</a:t>
            </a:r>
            <a:r>
              <a:rPr lang="en-US" altLang="ja-JP" dirty="0"/>
              <a:t>10</a:t>
            </a:r>
            <a:r>
              <a:rPr lang="ja-JP" altLang="en-US" dirty="0"/>
              <a:t>問合計のチャンピオンを</a:t>
            </a:r>
            <a:r>
              <a:rPr lang="ja-JP" altLang="en-US" dirty="0" smtClean="0"/>
              <a:t>出す</a:t>
            </a:r>
            <a:endParaRPr lang="en-US" altLang="ja-JP" dirty="0" smtClean="0"/>
          </a:p>
          <a:p>
            <a:r>
              <a:rPr lang="ja-JP" altLang="en-US" dirty="0" smtClean="0"/>
              <a:t>ユーザ</a:t>
            </a:r>
            <a:r>
              <a:rPr lang="en-US" altLang="ja-JP" dirty="0"/>
              <a:t>ID</a:t>
            </a:r>
            <a:r>
              <a:rPr lang="ja-JP" altLang="en-US" dirty="0"/>
              <a:t>いる？</a:t>
            </a:r>
            <a:endParaRPr lang="en-US" altLang="ja-JP" dirty="0"/>
          </a:p>
          <a:p>
            <a:r>
              <a:rPr lang="ja-JP" altLang="en-US" dirty="0"/>
              <a:t>グループ</a:t>
            </a:r>
            <a:r>
              <a:rPr lang="en-US" altLang="ja-JP" dirty="0"/>
              <a:t>ID</a:t>
            </a:r>
          </a:p>
          <a:p>
            <a:endParaRPr lang="ja-JP" altLang="en-US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6784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280</Words>
  <Application>Microsoft Office PowerPoint</Application>
  <PresentationFormat>ワイド画面</PresentationFormat>
  <Paragraphs>107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0" baseType="lpstr">
      <vt:lpstr>ＭＳ Ｐゴシック</vt:lpstr>
      <vt:lpstr>メイリオ</vt:lpstr>
      <vt:lpstr>Arial</vt:lpstr>
      <vt:lpstr>Calibri</vt:lpstr>
      <vt:lpstr>Calibri Light</vt:lpstr>
      <vt:lpstr>Office テーマ</vt:lpstr>
      <vt:lpstr>SmaQ</vt:lpstr>
      <vt:lpstr>作らないといけないもの</vt:lpstr>
      <vt:lpstr>利用イメージ</vt:lpstr>
      <vt:lpstr>画面遷移図（イベント時/PC側）</vt:lpstr>
      <vt:lpstr>画面遷移図（イベント時/PC側-詳細）</vt:lpstr>
      <vt:lpstr>画面遷移図（イベント時/スマホ側）</vt:lpstr>
      <vt:lpstr>画面遷移図（準備時）</vt:lpstr>
      <vt:lpstr>画面イメージ（スマホ）</vt:lpstr>
      <vt:lpstr>画面イメージ　4択画面</vt:lpstr>
      <vt:lpstr>画面イメージ　4択画面　答え</vt:lpstr>
      <vt:lpstr>画面イメージ　ランキング</vt:lpstr>
      <vt:lpstr>PowerPoint プレゼンテーション</vt:lpstr>
      <vt:lpstr>PowerPoint プレゼンテーション</vt:lpstr>
      <vt:lpstr>メモ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kent kojima</dc:creator>
  <cp:lastModifiedBy>kent kojima</cp:lastModifiedBy>
  <cp:revision>21</cp:revision>
  <dcterms:created xsi:type="dcterms:W3CDTF">2015-09-05T13:16:00Z</dcterms:created>
  <dcterms:modified xsi:type="dcterms:W3CDTF">2015-09-21T09:55:50Z</dcterms:modified>
</cp:coreProperties>
</file>